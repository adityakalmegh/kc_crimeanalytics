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
  </p:notesMasterIdLst>
  <p:sldIdLst>
    <p:sldId id="269" r:id="rId2"/>
    <p:sldId id="260"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63" d="100"/>
          <a:sy n="163" d="100"/>
        </p:scale>
        <p:origin x="15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Time to Fill – CY</c:v>
                </c:pt>
              </c:strCache>
            </c:strRef>
          </c:tx>
          <c:spPr>
            <a:ln w="31750" cap="flat">
              <a:solidFill>
                <a:srgbClr val="122C57"/>
              </a:solidFill>
              <a:prstDash val="solid"/>
              <a:round/>
            </a:ln>
            <a:effectLst/>
          </c:spPr>
          <c:marker>
            <c:symbol val="circle"/>
            <c:size val="5"/>
            <c:spPr>
              <a:solidFill>
                <a:srgbClr val="122C57"/>
              </a:solidFill>
              <a:ln w="9525" cap="flat">
                <a:solidFill>
                  <a:srgbClr val="122C57"/>
                </a:solidFill>
                <a:prstDash val="solid"/>
                <a:round/>
              </a:ln>
              <a:effectLst/>
            </c:spPr>
          </c:marker>
          <c:cat>
            <c:strRef>
              <c:f>Sheet1!$A$2:$A$13</c:f>
              <c:strCache>
                <c:ptCount val="12"/>
                <c:pt idx="0">
                  <c:v>Feb</c:v>
                </c:pt>
                <c:pt idx="1">
                  <c:v>Mar</c:v>
                </c:pt>
                <c:pt idx="2">
                  <c:v>Apr</c:v>
                </c:pt>
                <c:pt idx="3">
                  <c:v>May</c:v>
                </c:pt>
                <c:pt idx="4">
                  <c:v>Jun</c:v>
                </c:pt>
                <c:pt idx="5">
                  <c:v>Jul</c:v>
                </c:pt>
                <c:pt idx="6">
                  <c:v>Aug</c:v>
                </c:pt>
                <c:pt idx="7">
                  <c:v>Sep</c:v>
                </c:pt>
                <c:pt idx="8">
                  <c:v>Oct</c:v>
                </c:pt>
                <c:pt idx="9">
                  <c:v>Nov</c:v>
                </c:pt>
                <c:pt idx="10">
                  <c:v>Dec</c:v>
                </c:pt>
                <c:pt idx="11">
                  <c:v>Jan</c:v>
                </c:pt>
              </c:strCache>
            </c:strRef>
          </c:cat>
          <c:val>
            <c:numRef>
              <c:f>Sheet1!$B$2:$B$13</c:f>
              <c:numCache>
                <c:formatCode>General</c:formatCode>
                <c:ptCount val="12"/>
                <c:pt idx="0">
                  <c:v>108</c:v>
                </c:pt>
                <c:pt idx="1">
                  <c:v>105</c:v>
                </c:pt>
                <c:pt idx="2">
                  <c:v>102</c:v>
                </c:pt>
                <c:pt idx="3">
                  <c:v>99</c:v>
                </c:pt>
                <c:pt idx="4">
                  <c:v>97</c:v>
                </c:pt>
                <c:pt idx="5">
                  <c:v>95</c:v>
                </c:pt>
                <c:pt idx="6">
                  <c:v>93</c:v>
                </c:pt>
                <c:pt idx="7">
                  <c:v>92</c:v>
                </c:pt>
                <c:pt idx="8">
                  <c:v>90</c:v>
                </c:pt>
                <c:pt idx="9">
                  <c:v>89</c:v>
                </c:pt>
                <c:pt idx="10">
                  <c:v>88</c:v>
                </c:pt>
                <c:pt idx="11">
                  <c:v>86</c:v>
                </c:pt>
              </c:numCache>
            </c:numRef>
          </c:val>
          <c:smooth val="0"/>
          <c:extLst>
            <c:ext xmlns:c16="http://schemas.microsoft.com/office/drawing/2014/chart" uri="{C3380CC4-5D6E-409C-BE32-E72D297353CC}">
              <c16:uniqueId val="{00000000-2AF1-4513-82EA-5E1B8487291D}"/>
            </c:ext>
          </c:extLst>
        </c:ser>
        <c:ser>
          <c:idx val="1"/>
          <c:order val="1"/>
          <c:tx>
            <c:strRef>
              <c:f>Sheet1!$C$1</c:f>
              <c:strCache>
                <c:ptCount val="1"/>
                <c:pt idx="0">
                  <c:v>Time to Fill – PY</c:v>
                </c:pt>
              </c:strCache>
            </c:strRef>
          </c:tx>
          <c:spPr>
            <a:ln w="31750" cap="flat">
              <a:solidFill>
                <a:srgbClr val="E8A0B0"/>
              </a:solidFill>
              <a:prstDash val="solid"/>
              <a:round/>
            </a:ln>
            <a:effectLst/>
          </c:spPr>
          <c:marker>
            <c:symbol val="circle"/>
            <c:size val="5"/>
            <c:spPr>
              <a:solidFill>
                <a:srgbClr val="E8A0B0"/>
              </a:solidFill>
              <a:ln w="9525" cap="flat">
                <a:solidFill>
                  <a:srgbClr val="E8A0B0"/>
                </a:solidFill>
                <a:prstDash val="solid"/>
                <a:round/>
              </a:ln>
              <a:effectLst/>
            </c:spPr>
          </c:marker>
          <c:cat>
            <c:strRef>
              <c:f>Sheet1!$A$2:$A$13</c:f>
              <c:strCache>
                <c:ptCount val="12"/>
                <c:pt idx="0">
                  <c:v>Feb</c:v>
                </c:pt>
                <c:pt idx="1">
                  <c:v>Mar</c:v>
                </c:pt>
                <c:pt idx="2">
                  <c:v>Apr</c:v>
                </c:pt>
                <c:pt idx="3">
                  <c:v>May</c:v>
                </c:pt>
                <c:pt idx="4">
                  <c:v>Jun</c:v>
                </c:pt>
                <c:pt idx="5">
                  <c:v>Jul</c:v>
                </c:pt>
                <c:pt idx="6">
                  <c:v>Aug</c:v>
                </c:pt>
                <c:pt idx="7">
                  <c:v>Sep</c:v>
                </c:pt>
                <c:pt idx="8">
                  <c:v>Oct</c:v>
                </c:pt>
                <c:pt idx="9">
                  <c:v>Nov</c:v>
                </c:pt>
                <c:pt idx="10">
                  <c:v>Dec</c:v>
                </c:pt>
                <c:pt idx="11">
                  <c:v>Jan</c:v>
                </c:pt>
              </c:strCache>
            </c:strRef>
          </c:cat>
          <c:val>
            <c:numRef>
              <c:f>Sheet1!$C$2:$C$13</c:f>
              <c:numCache>
                <c:formatCode>General</c:formatCode>
                <c:ptCount val="12"/>
                <c:pt idx="0">
                  <c:v>120</c:v>
                </c:pt>
                <c:pt idx="1">
                  <c:v>119</c:v>
                </c:pt>
                <c:pt idx="2">
                  <c:v>118</c:v>
                </c:pt>
                <c:pt idx="3">
                  <c:v>116</c:v>
                </c:pt>
                <c:pt idx="4">
                  <c:v>115</c:v>
                </c:pt>
                <c:pt idx="5">
                  <c:v>114</c:v>
                </c:pt>
                <c:pt idx="6">
                  <c:v>112</c:v>
                </c:pt>
                <c:pt idx="7">
                  <c:v>111</c:v>
                </c:pt>
                <c:pt idx="8">
                  <c:v>110</c:v>
                </c:pt>
                <c:pt idx="9">
                  <c:v>108</c:v>
                </c:pt>
                <c:pt idx="10">
                  <c:v>107</c:v>
                </c:pt>
                <c:pt idx="11">
                  <c:v>106</c:v>
                </c:pt>
              </c:numCache>
            </c:numRef>
          </c:val>
          <c:smooth val="0"/>
          <c:extLst>
            <c:ext xmlns:c16="http://schemas.microsoft.com/office/drawing/2014/chart" uri="{C3380CC4-5D6E-409C-BE32-E72D297353CC}">
              <c16:uniqueId val="{00000001-2AF1-4513-82EA-5E1B8487291D}"/>
            </c:ext>
          </c:extLst>
        </c:ser>
        <c:ser>
          <c:idx val="2"/>
          <c:order val="2"/>
          <c:tx>
            <c:strRef>
              <c:f>Sheet1!$D$1</c:f>
              <c:strCache>
                <c:ptCount val="1"/>
                <c:pt idx="0">
                  <c:v>Target</c:v>
                </c:pt>
              </c:strCache>
            </c:strRef>
          </c:tx>
          <c:spPr>
            <a:ln w="31750" cap="flat">
              <a:solidFill>
                <a:srgbClr val="C0392B"/>
              </a:solidFill>
              <a:prstDash val="sysDash"/>
              <a:round/>
            </a:ln>
            <a:effectLst/>
          </c:spPr>
          <c:marker>
            <c:symbol val="circle"/>
            <c:size val="5"/>
            <c:spPr>
              <a:solidFill>
                <a:srgbClr val="C0392B"/>
              </a:solidFill>
              <a:ln w="9525" cap="flat">
                <a:solidFill>
                  <a:srgbClr val="C0392B"/>
                </a:solidFill>
                <a:prstDash val="solid"/>
                <a:round/>
              </a:ln>
              <a:effectLst/>
            </c:spPr>
          </c:marker>
          <c:cat>
            <c:strRef>
              <c:f>Sheet1!$A$2:$A$13</c:f>
              <c:strCache>
                <c:ptCount val="12"/>
                <c:pt idx="0">
                  <c:v>Feb</c:v>
                </c:pt>
                <c:pt idx="1">
                  <c:v>Mar</c:v>
                </c:pt>
                <c:pt idx="2">
                  <c:v>Apr</c:v>
                </c:pt>
                <c:pt idx="3">
                  <c:v>May</c:v>
                </c:pt>
                <c:pt idx="4">
                  <c:v>Jun</c:v>
                </c:pt>
                <c:pt idx="5">
                  <c:v>Jul</c:v>
                </c:pt>
                <c:pt idx="6">
                  <c:v>Aug</c:v>
                </c:pt>
                <c:pt idx="7">
                  <c:v>Sep</c:v>
                </c:pt>
                <c:pt idx="8">
                  <c:v>Oct</c:v>
                </c:pt>
                <c:pt idx="9">
                  <c:v>Nov</c:v>
                </c:pt>
                <c:pt idx="10">
                  <c:v>Dec</c:v>
                </c:pt>
                <c:pt idx="11">
                  <c:v>Jan</c:v>
                </c:pt>
              </c:strCache>
            </c:strRef>
          </c:cat>
          <c:val>
            <c:numRef>
              <c:f>Sheet1!$D$2:$D$13</c:f>
              <c:numCache>
                <c:formatCode>General</c:formatCode>
                <c:ptCount val="12"/>
                <c:pt idx="0">
                  <c:v>90</c:v>
                </c:pt>
                <c:pt idx="1">
                  <c:v>90</c:v>
                </c:pt>
                <c:pt idx="2">
                  <c:v>90</c:v>
                </c:pt>
                <c:pt idx="3">
                  <c:v>90</c:v>
                </c:pt>
                <c:pt idx="4">
                  <c:v>90</c:v>
                </c:pt>
                <c:pt idx="5">
                  <c:v>90</c:v>
                </c:pt>
                <c:pt idx="6">
                  <c:v>90</c:v>
                </c:pt>
                <c:pt idx="7">
                  <c:v>90</c:v>
                </c:pt>
                <c:pt idx="8">
                  <c:v>90</c:v>
                </c:pt>
                <c:pt idx="9">
                  <c:v>90</c:v>
                </c:pt>
                <c:pt idx="10">
                  <c:v>90</c:v>
                </c:pt>
                <c:pt idx="11">
                  <c:v>90</c:v>
                </c:pt>
              </c:numCache>
            </c:numRef>
          </c:val>
          <c:smooth val="0"/>
          <c:extLst>
            <c:ext xmlns:c16="http://schemas.microsoft.com/office/drawing/2014/chart" uri="{C3380CC4-5D6E-409C-BE32-E72D297353CC}">
              <c16:uniqueId val="{00000002-2AF1-4513-82EA-5E1B8487291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900" b="0" i="0" u="none" strike="noStrike">
                    <a:solidFill>
                      <a:srgbClr val="666666"/>
                    </a:solidFill>
                    <a:latin typeface="Calibri"/>
                  </a:defRPr>
                </a:pPr>
                <a:r>
                  <a:rPr lang="en-US" sz="900" b="0" i="0" u="none" strike="noStrike">
                    <a:solidFill>
                      <a:srgbClr val="666666"/>
                    </a:solidFill>
                    <a:latin typeface="Calibri"/>
                  </a:rPr>
                  <a:t>Month</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666666"/>
                </a:solidFill>
                <a:latin typeface="Calibri"/>
              </a:defRPr>
            </a:pPr>
            <a:endParaRPr lang="en-US"/>
          </a:p>
        </c:txPr>
        <c:crossAx val="2094734552"/>
        <c:crosses val="autoZero"/>
        <c:auto val="1"/>
        <c:lblAlgn val="ctr"/>
        <c:lblOffset val="100"/>
        <c:noMultiLvlLbl val="1"/>
      </c:catAx>
      <c:valAx>
        <c:axId val="2094734552"/>
        <c:scaling>
          <c:orientation val="minMax"/>
          <c:max val="130"/>
          <c:min val="60"/>
        </c:scaling>
        <c:delete val="0"/>
        <c:axPos val="l"/>
        <c:majorGridlines>
          <c:spPr>
            <a:ln w="6350" cap="flat">
              <a:solidFill>
                <a:srgbClr val="E6E8EC"/>
              </a:solidFill>
              <a:prstDash val="solid"/>
              <a:round/>
            </a:ln>
          </c:spPr>
        </c:majorGridlines>
        <c:title>
          <c:tx>
            <c:rich>
              <a:bodyPr/>
              <a:lstStyle/>
              <a:p>
                <a:pPr>
                  <a:defRPr sz="900" b="0" i="0" u="none" strike="noStrike">
                    <a:solidFill>
                      <a:srgbClr val="666666"/>
                    </a:solidFill>
                    <a:latin typeface="Calibri"/>
                  </a:defRPr>
                </a:pPr>
                <a:r>
                  <a:rPr lang="en-US" sz="900" b="0" i="0" u="none" strike="noStrike">
                    <a:solidFill>
                      <a:srgbClr val="666666"/>
                    </a:solidFill>
                    <a:latin typeface="Calibri"/>
                  </a:rPr>
                  <a:t>Days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66666"/>
                </a:solidFill>
                <a:latin typeface="Calibri"/>
              </a:defRPr>
            </a:pPr>
            <a:endParaRPr lang="en-US"/>
          </a:p>
        </c:txPr>
        <c:crossAx val="2094734554"/>
        <c:crosses val="autoZero"/>
        <c:crossBetween val="between"/>
        <c:majorUnit val="10"/>
      </c:valAx>
      <c:spPr>
        <a:solidFill>
          <a:srgbClr val="FFFFFF"/>
        </a:solidFill>
        <a:ln>
          <a:noFill/>
        </a:ln>
        <a:effectLst/>
      </c:spPr>
    </c:plotArea>
    <c:legend>
      <c:legendPos val="b"/>
      <c:overlay val="0"/>
      <c:txPr>
        <a:bodyPr/>
        <a:lstStyle/>
        <a:p>
          <a:pPr>
            <a:defRPr sz="900">
              <a:solidFill>
                <a:srgbClr val="666666"/>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C9D4EF-0925-4404-8A41-DB536011BA7D}" type="datetimeFigureOut">
              <a:rPr lang="en-US" smtClean="0"/>
              <a:t>7/13/2026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26C090-18C1-4A3E-93F3-E2DFF5AA62D7}" type="slidenum">
              <a:rPr lang="en-US" smtClean="0"/>
              <a:t>‹#›</a:t>
            </a:fld>
            <a:endParaRPr lang="en-US"/>
          </a:p>
        </p:txBody>
      </p:sp>
    </p:spTree>
    <p:extLst>
      <p:ext uri="{BB962C8B-B14F-4D97-AF65-F5344CB8AC3E}">
        <p14:creationId xmlns:p14="http://schemas.microsoft.com/office/powerpoint/2010/main" val="510230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Optional: You can include your logo or department branding.</a:t>
            </a:r>
          </a:p>
          <a:p>
            <a:endParaRPr lang="en-US"/>
          </a:p>
          <a:p>
            <a:r>
              <a:rPr lang="en-US"/>
              <a:t>Must haves: For the quarterly reporting, consistency matters. Use a clear metric title. One measure per slide. A snapshot of your graph goes on the left side. Ideally your graph includes the strip at the bottom that demonstrates how the current month compares to other time periods. The graph should have three points of reference and be as real-time as the data allows. See slide 1 for additional guidance. Below the graph is the definition, source information, and any other information such as data quality. On the right side are key takeaways. There is a slide number on the bottom right corner. </a:t>
            </a:r>
          </a:p>
          <a:p>
            <a:endParaRPr lang="en-US"/>
          </a:p>
          <a:p>
            <a:pPr lvl="1"/>
            <a:r>
              <a:rPr lang="en-US" sz="1200" kern="1200">
                <a:solidFill>
                  <a:schemeClr val="tx1"/>
                </a:solidFill>
                <a:effectLst/>
                <a:latin typeface="+mn-lt"/>
                <a:ea typeface="+mn-ea"/>
                <a:cs typeface="+mn-cs"/>
              </a:rPr>
              <a:t>This month compared to last month </a:t>
            </a:r>
          </a:p>
          <a:p>
            <a:pPr lvl="1"/>
            <a:r>
              <a:rPr lang="en-US" sz="1200" kern="1200">
                <a:solidFill>
                  <a:schemeClr val="tx1"/>
                </a:solidFill>
                <a:effectLst/>
                <a:latin typeface="+mn-lt"/>
                <a:ea typeface="+mn-ea"/>
                <a:cs typeface="+mn-cs"/>
              </a:rPr>
              <a:t>This month compared to this month last year</a:t>
            </a:r>
          </a:p>
          <a:p>
            <a:pPr lvl="1"/>
            <a:r>
              <a:rPr lang="en-US" sz="1200" kern="1200">
                <a:solidFill>
                  <a:schemeClr val="tx1"/>
                </a:solidFill>
                <a:effectLst/>
                <a:latin typeface="+mn-lt"/>
                <a:ea typeface="+mn-ea"/>
                <a:cs typeface="+mn-cs"/>
              </a:rPr>
              <a:t>This quarter (average)</a:t>
            </a:r>
          </a:p>
          <a:p>
            <a:pPr lvl="1"/>
            <a:r>
              <a:rPr lang="en-US" sz="1200" kern="1200">
                <a:solidFill>
                  <a:schemeClr val="tx1"/>
                </a:solidFill>
                <a:effectLst/>
                <a:latin typeface="+mn-lt"/>
                <a:ea typeface="+mn-ea"/>
                <a:cs typeface="+mn-cs"/>
              </a:rPr>
              <a:t>This quarter compared to this quarter last year</a:t>
            </a:r>
          </a:p>
          <a:p>
            <a:pPr lvl="1"/>
            <a:r>
              <a:rPr lang="en-US" sz="1200" kern="1200">
                <a:solidFill>
                  <a:schemeClr val="tx1"/>
                </a:solidFill>
                <a:effectLst/>
                <a:latin typeface="+mn-lt"/>
                <a:ea typeface="+mn-ea"/>
                <a:cs typeface="+mn-cs"/>
              </a:rPr>
              <a:t>This year to date (average)</a:t>
            </a:r>
          </a:p>
          <a:p>
            <a:pPr lvl="1"/>
            <a:r>
              <a:rPr lang="en-US" sz="1200" kern="1200">
                <a:solidFill>
                  <a:schemeClr val="tx1"/>
                </a:solidFill>
                <a:effectLst/>
                <a:latin typeface="+mn-lt"/>
                <a:ea typeface="+mn-ea"/>
                <a:cs typeface="+mn-cs"/>
              </a:rPr>
              <a:t>This year to date  compared to this year to date last year </a:t>
            </a:r>
          </a:p>
          <a:p>
            <a:endParaRPr lang="en-US" sz="1200" kern="120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Confirming you want us to show last 12 months, and not fixed calendar year (Jan-Dec) on the x-axis? Yes, by calendar year (last 12 months)</a:t>
            </a:r>
          </a:p>
          <a:p>
            <a:pPr lvl="0"/>
            <a:r>
              <a:rPr lang="en-US" sz="1200" kern="1200">
                <a:solidFill>
                  <a:schemeClr val="tx1"/>
                </a:solidFill>
                <a:effectLst/>
                <a:latin typeface="+mn-lt"/>
                <a:ea typeface="+mn-ea"/>
                <a:cs typeface="+mn-cs"/>
              </a:rPr>
              <a:t>Confirming phrases or sentences in the Notes box? Clear phrases are fine without periods</a:t>
            </a:r>
          </a:p>
          <a:p>
            <a:pPr lvl="1"/>
            <a:endParaRPr lang="en-US" sz="1200" kern="1200">
              <a:solidFill>
                <a:schemeClr val="tx1"/>
              </a:solidFill>
              <a:effectLst/>
              <a:latin typeface="+mn-lt"/>
              <a:ea typeface="+mn-ea"/>
              <a:cs typeface="+mn-cs"/>
            </a:endParaRPr>
          </a:p>
          <a:p>
            <a:endParaRPr lang="en-US"/>
          </a:p>
          <a:p>
            <a:endParaRPr lang="en-US"/>
          </a:p>
          <a:p>
            <a:pPr lvl="1"/>
            <a:endParaRPr lang="en-US" sz="1200" kern="1200">
              <a:solidFill>
                <a:schemeClr val="tx1"/>
              </a:solidFill>
              <a:effectLst/>
              <a:latin typeface="+mn-lt"/>
              <a:ea typeface="+mn-ea"/>
              <a:cs typeface="+mn-cs"/>
            </a:endParaRPr>
          </a:p>
          <a:p>
            <a:pPr lvl="1"/>
            <a:endParaRPr lang="en-US" sz="120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796803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4A08CB-FE54-1F3E-0980-2B0F3FD71E56}"/>
              </a:ext>
            </a:extLst>
          </p:cNvPr>
          <p:cNvSpPr>
            <a:spLocks noGrp="1"/>
          </p:cNvSpPr>
          <p:nvPr>
            <p:ph type="sldNum" sz="quarter" idx="4"/>
          </p:nvPr>
        </p:nvSpPr>
        <p:spPr>
          <a:xfrm>
            <a:off x="8610600" y="6356351"/>
            <a:ext cx="2743200" cy="366183"/>
          </a:xfrm>
          <a:prstGeom prst="rect">
            <a:avLst/>
          </a:prstGeom>
        </p:spPr>
        <p:txBody>
          <a:bodyPr vert="horz" lIns="91440" tIns="45720" rIns="91440" bIns="45720" rtlCol="0" anchor="ctr"/>
          <a:lstStyle>
            <a:lvl1pPr algn="r">
              <a:defRPr sz="1067">
                <a:solidFill>
                  <a:schemeClr val="tx1">
                    <a:tint val="82000"/>
                  </a:schemeClr>
                </a:solidFill>
              </a:defRPr>
            </a:lvl1pPr>
          </a:lstStyle>
          <a:p>
            <a:fld id="{F24896A8-AAB3-43EB-87F5-65FCF1175F9B}" type="slidenum">
              <a:rPr lang="en-US" smtClean="0"/>
              <a:pPr/>
              <a:t>‹#›</a:t>
            </a:fld>
            <a:endParaRPr lang="en-US" sz="1067"/>
          </a:p>
        </p:txBody>
      </p:sp>
    </p:spTree>
    <p:extLst>
      <p:ext uri="{BB962C8B-B14F-4D97-AF65-F5344CB8AC3E}">
        <p14:creationId xmlns:p14="http://schemas.microsoft.com/office/powerpoint/2010/main" val="826091134"/>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487680" y="755904"/>
            <a:ext cx="11216640" cy="609600"/>
          </a:xfrm>
          <a:prstGeom prst="rect">
            <a:avLst/>
          </a:prstGeom>
          <a:noFill/>
          <a:ln/>
        </p:spPr>
        <p:txBody>
          <a:bodyPr wrap="square" rtlCol="0" anchor="ctr"/>
          <a:lstStyle/>
          <a:p>
            <a:pPr defTabSz="1219170"/>
            <a:r>
              <a:rPr lang="en-US" sz="3333" b="1">
                <a:solidFill>
                  <a:srgbClr val="122C57"/>
                </a:solidFill>
                <a:latin typeface="Calibri" pitchFamily="34" charset="0"/>
                <a:ea typeface="Calibri" pitchFamily="34" charset="-122"/>
                <a:cs typeface="Calibri" pitchFamily="34" charset="-120"/>
              </a:rPr>
              <a:t>QBR Standard Graph</a:t>
            </a:r>
            <a:endParaRPr lang="en-US" sz="3333">
              <a:solidFill>
                <a:prstClr val="black"/>
              </a:solidFill>
              <a:latin typeface="Calibri" panose="020F0502020204030204"/>
            </a:endParaRPr>
          </a:p>
        </p:txBody>
      </p:sp>
      <p:sp>
        <p:nvSpPr>
          <p:cNvPr id="6" name="Shape 3"/>
          <p:cNvSpPr/>
          <p:nvPr/>
        </p:nvSpPr>
        <p:spPr>
          <a:xfrm>
            <a:off x="587108" y="1490356"/>
            <a:ext cx="243840" cy="243840"/>
          </a:xfrm>
          <a:prstGeom prst="ellipse">
            <a:avLst/>
          </a:prstGeom>
          <a:solidFill>
            <a:srgbClr val="2056A7"/>
          </a:solidFill>
          <a:ln w="12700">
            <a:solidFill>
              <a:srgbClr val="2056A7"/>
            </a:solidFill>
            <a:prstDash val="solid"/>
          </a:ln>
        </p:spPr>
        <p:txBody>
          <a:bodyPr/>
          <a:lstStyle/>
          <a:p>
            <a:pPr defTabSz="1219170"/>
            <a:endParaRPr lang="en-US" sz="2400">
              <a:solidFill>
                <a:prstClr val="black"/>
              </a:solidFill>
              <a:latin typeface="Calibri" panose="020F0502020204030204"/>
            </a:endParaRPr>
          </a:p>
        </p:txBody>
      </p:sp>
      <p:sp>
        <p:nvSpPr>
          <p:cNvPr id="7" name="Text 4"/>
          <p:cNvSpPr/>
          <p:nvPr/>
        </p:nvSpPr>
        <p:spPr>
          <a:xfrm>
            <a:off x="804673" y="1276604"/>
            <a:ext cx="5812027" cy="755904"/>
          </a:xfrm>
          <a:prstGeom prst="rect">
            <a:avLst/>
          </a:prstGeom>
          <a:noFill/>
          <a:ln/>
        </p:spPr>
        <p:txBody>
          <a:bodyPr wrap="square" rtlCol="0" anchor="ctr"/>
          <a:lstStyle/>
          <a:p>
            <a:pPr defTabSz="1219170">
              <a:lnSpc>
                <a:spcPts val="1533"/>
              </a:lnSpc>
            </a:pPr>
            <a:r>
              <a:rPr lang="en-US" sz="1333" b="1">
                <a:solidFill>
                  <a:srgbClr val="122C57"/>
                </a:solidFill>
                <a:latin typeface="Calibri" pitchFamily="34" charset="0"/>
                <a:ea typeface="Calibri" pitchFamily="34" charset="-122"/>
                <a:cs typeface="Calibri" pitchFamily="34" charset="-120"/>
              </a:rPr>
              <a:t>Standard chart formats. </a:t>
            </a:r>
            <a:r>
              <a:rPr lang="en-US" sz="1333">
                <a:solidFill>
                  <a:srgbClr val="333333"/>
                </a:solidFill>
                <a:latin typeface="Calibri" pitchFamily="34" charset="0"/>
                <a:ea typeface="Calibri" pitchFamily="34" charset="-122"/>
                <a:cs typeface="Calibri" pitchFamily="34" charset="-120"/>
              </a:rPr>
              <a:t>Goal is to make information understandable to executives in under 10 seconds.</a:t>
            </a:r>
            <a:endParaRPr lang="en-US" sz="1333">
              <a:solidFill>
                <a:prstClr val="black"/>
              </a:solidFill>
              <a:latin typeface="Calibri" panose="020F0502020204030204"/>
            </a:endParaRPr>
          </a:p>
        </p:txBody>
      </p:sp>
      <p:sp>
        <p:nvSpPr>
          <p:cNvPr id="8" name="Shape 5"/>
          <p:cNvSpPr/>
          <p:nvPr/>
        </p:nvSpPr>
        <p:spPr>
          <a:xfrm>
            <a:off x="587108" y="2121408"/>
            <a:ext cx="243840" cy="243840"/>
          </a:xfrm>
          <a:prstGeom prst="ellipse">
            <a:avLst/>
          </a:prstGeom>
          <a:solidFill>
            <a:srgbClr val="2056A7"/>
          </a:solidFill>
          <a:ln w="12700">
            <a:solidFill>
              <a:srgbClr val="2056A7"/>
            </a:solidFill>
            <a:prstDash val="solid"/>
          </a:ln>
        </p:spPr>
        <p:txBody>
          <a:bodyPr/>
          <a:lstStyle/>
          <a:p>
            <a:pPr defTabSz="1219170"/>
            <a:endParaRPr lang="en-US" sz="2400">
              <a:solidFill>
                <a:prstClr val="black"/>
              </a:solidFill>
              <a:latin typeface="Calibri" panose="020F0502020204030204"/>
            </a:endParaRPr>
          </a:p>
        </p:txBody>
      </p:sp>
      <p:sp>
        <p:nvSpPr>
          <p:cNvPr id="9" name="Text 6"/>
          <p:cNvSpPr/>
          <p:nvPr/>
        </p:nvSpPr>
        <p:spPr>
          <a:xfrm>
            <a:off x="804673" y="1907656"/>
            <a:ext cx="5812027" cy="755904"/>
          </a:xfrm>
          <a:prstGeom prst="rect">
            <a:avLst/>
          </a:prstGeom>
          <a:noFill/>
          <a:ln/>
        </p:spPr>
        <p:txBody>
          <a:bodyPr wrap="square" rtlCol="0" anchor="ctr"/>
          <a:lstStyle/>
          <a:p>
            <a:pPr defTabSz="1219170">
              <a:lnSpc>
                <a:spcPts val="1533"/>
              </a:lnSpc>
            </a:pPr>
            <a:r>
              <a:rPr lang="en-US" sz="1333" b="1">
                <a:solidFill>
                  <a:srgbClr val="122C57"/>
                </a:solidFill>
                <a:latin typeface="Calibri" pitchFamily="34" charset="0"/>
                <a:ea typeface="Calibri" pitchFamily="34" charset="-122"/>
                <a:cs typeface="Calibri" pitchFamily="34" charset="-120"/>
              </a:rPr>
              <a:t>Data over time. </a:t>
            </a:r>
            <a:r>
              <a:rPr lang="en-US" sz="1333">
                <a:solidFill>
                  <a:srgbClr val="333333"/>
                </a:solidFill>
                <a:latin typeface="Calibri" pitchFamily="34" charset="0"/>
                <a:ea typeface="Calibri" pitchFamily="34" charset="-122"/>
                <a:cs typeface="Calibri" pitchFamily="34" charset="-120"/>
              </a:rPr>
              <a:t>The standard graph is a </a:t>
            </a:r>
            <a:r>
              <a:rPr lang="en-US" sz="1333" b="1">
                <a:solidFill>
                  <a:srgbClr val="333333"/>
                </a:solidFill>
                <a:latin typeface="Calibri" pitchFamily="34" charset="0"/>
                <a:ea typeface="Calibri" pitchFamily="34" charset="-122"/>
                <a:cs typeface="Calibri" pitchFamily="34" charset="-120"/>
              </a:rPr>
              <a:t>trendline</a:t>
            </a:r>
            <a:r>
              <a:rPr lang="en-US" sz="1333">
                <a:solidFill>
                  <a:srgbClr val="333333"/>
                </a:solidFill>
                <a:latin typeface="Calibri" pitchFamily="34" charset="0"/>
                <a:ea typeface="Calibri" pitchFamily="34" charset="-122"/>
                <a:cs typeface="Calibri" pitchFamily="34" charset="-120"/>
              </a:rPr>
              <a:t>. You can combine weekly and monthly data on one chart. Use secondary slides when required to support discussion.</a:t>
            </a:r>
            <a:endParaRPr lang="en-US" sz="1333">
              <a:solidFill>
                <a:prstClr val="black"/>
              </a:solidFill>
              <a:latin typeface="Calibri" panose="020F0502020204030204"/>
            </a:endParaRPr>
          </a:p>
        </p:txBody>
      </p:sp>
      <p:sp>
        <p:nvSpPr>
          <p:cNvPr id="10" name="Shape 7"/>
          <p:cNvSpPr/>
          <p:nvPr/>
        </p:nvSpPr>
        <p:spPr>
          <a:xfrm>
            <a:off x="587108" y="2663560"/>
            <a:ext cx="243840" cy="243840"/>
          </a:xfrm>
          <a:prstGeom prst="ellipse">
            <a:avLst/>
          </a:prstGeom>
          <a:solidFill>
            <a:srgbClr val="2056A7"/>
          </a:solidFill>
          <a:ln w="12700">
            <a:solidFill>
              <a:srgbClr val="2056A7"/>
            </a:solidFill>
            <a:prstDash val="solid"/>
          </a:ln>
        </p:spPr>
        <p:txBody>
          <a:bodyPr/>
          <a:lstStyle/>
          <a:p>
            <a:pPr defTabSz="1219170"/>
            <a:endParaRPr lang="en-US" sz="2400">
              <a:solidFill>
                <a:prstClr val="black"/>
              </a:solidFill>
              <a:latin typeface="Calibri" panose="020F0502020204030204"/>
            </a:endParaRPr>
          </a:p>
        </p:txBody>
      </p:sp>
      <p:sp>
        <p:nvSpPr>
          <p:cNvPr id="11" name="Text 8"/>
          <p:cNvSpPr/>
          <p:nvPr/>
        </p:nvSpPr>
        <p:spPr>
          <a:xfrm>
            <a:off x="804673" y="2449808"/>
            <a:ext cx="5812027" cy="755904"/>
          </a:xfrm>
          <a:prstGeom prst="rect">
            <a:avLst/>
          </a:prstGeom>
          <a:noFill/>
          <a:ln/>
        </p:spPr>
        <p:txBody>
          <a:bodyPr wrap="square" rtlCol="0" anchor="ctr"/>
          <a:lstStyle/>
          <a:p>
            <a:pPr defTabSz="1219170">
              <a:lnSpc>
                <a:spcPts val="1533"/>
              </a:lnSpc>
            </a:pPr>
            <a:r>
              <a:rPr lang="en-US" sz="1333" b="1">
                <a:solidFill>
                  <a:srgbClr val="122C57"/>
                </a:solidFill>
                <a:latin typeface="Calibri" pitchFamily="34" charset="0"/>
                <a:ea typeface="Calibri" pitchFamily="34" charset="-122"/>
                <a:cs typeface="Calibri" pitchFamily="34" charset="-120"/>
              </a:rPr>
              <a:t>Three reference points. </a:t>
            </a:r>
            <a:r>
              <a:rPr lang="en-US" sz="1333">
                <a:solidFill>
                  <a:srgbClr val="333333"/>
                </a:solidFill>
                <a:latin typeface="Calibri" pitchFamily="34" charset="0"/>
                <a:ea typeface="Calibri" pitchFamily="34" charset="-122"/>
                <a:cs typeface="Calibri" pitchFamily="34" charset="-120"/>
              </a:rPr>
              <a:t>Current year (CY). Prior year (PY). Target.</a:t>
            </a:r>
            <a:endParaRPr lang="en-US" sz="1333">
              <a:solidFill>
                <a:prstClr val="black"/>
              </a:solidFill>
              <a:latin typeface="Calibri" panose="020F0502020204030204"/>
            </a:endParaRPr>
          </a:p>
        </p:txBody>
      </p:sp>
      <p:sp>
        <p:nvSpPr>
          <p:cNvPr id="12" name="Shape 9"/>
          <p:cNvSpPr/>
          <p:nvPr/>
        </p:nvSpPr>
        <p:spPr>
          <a:xfrm>
            <a:off x="587108" y="3972516"/>
            <a:ext cx="243840" cy="243840"/>
          </a:xfrm>
          <a:prstGeom prst="ellipse">
            <a:avLst/>
          </a:prstGeom>
          <a:solidFill>
            <a:srgbClr val="2056A7"/>
          </a:solidFill>
          <a:ln w="12700">
            <a:solidFill>
              <a:srgbClr val="2056A7"/>
            </a:solidFill>
            <a:prstDash val="solid"/>
          </a:ln>
        </p:spPr>
        <p:txBody>
          <a:bodyPr/>
          <a:lstStyle/>
          <a:p>
            <a:pPr defTabSz="1219170"/>
            <a:endParaRPr lang="en-US" sz="2400">
              <a:solidFill>
                <a:prstClr val="black"/>
              </a:solidFill>
              <a:latin typeface="Calibri" panose="020F0502020204030204"/>
            </a:endParaRPr>
          </a:p>
        </p:txBody>
      </p:sp>
      <p:sp>
        <p:nvSpPr>
          <p:cNvPr id="13" name="Text 10"/>
          <p:cNvSpPr/>
          <p:nvPr/>
        </p:nvSpPr>
        <p:spPr>
          <a:xfrm>
            <a:off x="804673" y="3796864"/>
            <a:ext cx="5812027" cy="755904"/>
          </a:xfrm>
          <a:prstGeom prst="rect">
            <a:avLst/>
          </a:prstGeom>
          <a:noFill/>
          <a:ln/>
        </p:spPr>
        <p:txBody>
          <a:bodyPr wrap="square" rtlCol="0" anchor="ctr"/>
          <a:lstStyle/>
          <a:p>
            <a:pPr defTabSz="1219170">
              <a:lnSpc>
                <a:spcPts val="1533"/>
              </a:lnSpc>
            </a:pPr>
            <a:r>
              <a:rPr lang="en-US" sz="1333" b="1">
                <a:solidFill>
                  <a:srgbClr val="122C57"/>
                </a:solidFill>
                <a:latin typeface="Calibri" pitchFamily="34" charset="0"/>
                <a:ea typeface="Calibri" pitchFamily="34" charset="-122"/>
                <a:cs typeface="Calibri" pitchFamily="34" charset="-120"/>
              </a:rPr>
              <a:t>Tool Agnostic. </a:t>
            </a:r>
            <a:r>
              <a:rPr lang="en-US" sz="1333">
                <a:solidFill>
                  <a:srgbClr val="333333"/>
                </a:solidFill>
                <a:latin typeface="Calibri" pitchFamily="34" charset="0"/>
                <a:ea typeface="Calibri" pitchFamily="34" charset="-122"/>
                <a:cs typeface="Calibri" pitchFamily="34" charset="-120"/>
              </a:rPr>
              <a:t>Can be PowerPoint, Power BI, or another tool, as long as printable and includes all the standard report components.</a:t>
            </a:r>
            <a:endParaRPr lang="en-US" sz="1333">
              <a:solidFill>
                <a:prstClr val="black"/>
              </a:solidFill>
              <a:latin typeface="Calibri" panose="020F0502020204030204"/>
            </a:endParaRPr>
          </a:p>
        </p:txBody>
      </p:sp>
      <p:sp>
        <p:nvSpPr>
          <p:cNvPr id="14" name="Shape 11"/>
          <p:cNvSpPr/>
          <p:nvPr/>
        </p:nvSpPr>
        <p:spPr>
          <a:xfrm>
            <a:off x="587108" y="4552768"/>
            <a:ext cx="243840" cy="243840"/>
          </a:xfrm>
          <a:prstGeom prst="ellipse">
            <a:avLst/>
          </a:prstGeom>
          <a:solidFill>
            <a:srgbClr val="2056A7"/>
          </a:solidFill>
          <a:ln w="12700">
            <a:solidFill>
              <a:srgbClr val="2056A7"/>
            </a:solidFill>
            <a:prstDash val="solid"/>
          </a:ln>
        </p:spPr>
        <p:txBody>
          <a:bodyPr/>
          <a:lstStyle/>
          <a:p>
            <a:pPr defTabSz="1219170"/>
            <a:endParaRPr lang="en-US" sz="2400">
              <a:solidFill>
                <a:prstClr val="black"/>
              </a:solidFill>
              <a:latin typeface="Calibri" panose="020F0502020204030204"/>
            </a:endParaRPr>
          </a:p>
        </p:txBody>
      </p:sp>
      <p:sp>
        <p:nvSpPr>
          <p:cNvPr id="15" name="Text 12"/>
          <p:cNvSpPr/>
          <p:nvPr/>
        </p:nvSpPr>
        <p:spPr>
          <a:xfrm>
            <a:off x="804673" y="4466016"/>
            <a:ext cx="5812027" cy="755904"/>
          </a:xfrm>
          <a:prstGeom prst="rect">
            <a:avLst/>
          </a:prstGeom>
          <a:noFill/>
          <a:ln/>
        </p:spPr>
        <p:txBody>
          <a:bodyPr wrap="square" rtlCol="0" anchor="ctr"/>
          <a:lstStyle/>
          <a:p>
            <a:pPr defTabSz="1219170">
              <a:lnSpc>
                <a:spcPts val="1533"/>
              </a:lnSpc>
            </a:pPr>
            <a:r>
              <a:rPr lang="en-US" sz="1333" b="1">
                <a:solidFill>
                  <a:srgbClr val="122C57"/>
                </a:solidFill>
                <a:latin typeface="Calibri" pitchFamily="34" charset="0"/>
                <a:ea typeface="Calibri" pitchFamily="34" charset="-122"/>
                <a:cs typeface="Calibri" pitchFamily="34" charset="-120"/>
              </a:rPr>
              <a:t>As real-time as the data allows. </a:t>
            </a:r>
            <a:r>
              <a:rPr lang="en-US" sz="1333">
                <a:solidFill>
                  <a:srgbClr val="333333"/>
                </a:solidFill>
                <a:latin typeface="Calibri" pitchFamily="34" charset="0"/>
                <a:ea typeface="Calibri" pitchFamily="34" charset="-122"/>
                <a:cs typeface="Calibri" pitchFamily="34" charset="-120"/>
              </a:rPr>
              <a:t>Anything less frequent than monthly generally loses operational value because the data becomes too lagged to support active decision‑making.</a:t>
            </a:r>
            <a:endParaRPr lang="en-US" sz="1333">
              <a:solidFill>
                <a:prstClr val="black"/>
              </a:solidFill>
              <a:latin typeface="Calibri" panose="020F0502020204030204"/>
            </a:endParaRPr>
          </a:p>
        </p:txBody>
      </p:sp>
      <p:sp>
        <p:nvSpPr>
          <p:cNvPr id="16" name="Shape 13"/>
          <p:cNvSpPr/>
          <p:nvPr/>
        </p:nvSpPr>
        <p:spPr>
          <a:xfrm>
            <a:off x="587108" y="5992672"/>
            <a:ext cx="243840" cy="243840"/>
          </a:xfrm>
          <a:prstGeom prst="ellipse">
            <a:avLst/>
          </a:prstGeom>
          <a:solidFill>
            <a:srgbClr val="2056A7"/>
          </a:solidFill>
          <a:ln w="12700">
            <a:solidFill>
              <a:srgbClr val="2056A7"/>
            </a:solidFill>
            <a:prstDash val="solid"/>
          </a:ln>
        </p:spPr>
        <p:txBody>
          <a:bodyPr/>
          <a:lstStyle/>
          <a:p>
            <a:pPr defTabSz="1219170"/>
            <a:endParaRPr lang="en-US" sz="2400">
              <a:solidFill>
                <a:prstClr val="black"/>
              </a:solidFill>
              <a:latin typeface="Calibri" panose="020F0502020204030204"/>
            </a:endParaRPr>
          </a:p>
        </p:txBody>
      </p:sp>
      <p:sp>
        <p:nvSpPr>
          <p:cNvPr id="17" name="Text 14"/>
          <p:cNvSpPr/>
          <p:nvPr/>
        </p:nvSpPr>
        <p:spPr>
          <a:xfrm>
            <a:off x="804673" y="5778913"/>
            <a:ext cx="5812027" cy="755904"/>
          </a:xfrm>
          <a:prstGeom prst="rect">
            <a:avLst/>
          </a:prstGeom>
          <a:noFill/>
          <a:ln/>
        </p:spPr>
        <p:txBody>
          <a:bodyPr wrap="square" rtlCol="0" anchor="ctr"/>
          <a:lstStyle/>
          <a:p>
            <a:pPr defTabSz="1219170">
              <a:lnSpc>
                <a:spcPts val="1533"/>
              </a:lnSpc>
            </a:pPr>
            <a:r>
              <a:rPr lang="en-US" sz="1333" b="1">
                <a:solidFill>
                  <a:srgbClr val="122C57"/>
                </a:solidFill>
                <a:latin typeface="Calibri" pitchFamily="34" charset="0"/>
                <a:ea typeface="Calibri" pitchFamily="34" charset="-122"/>
                <a:cs typeface="Calibri" pitchFamily="34" charset="-120"/>
              </a:rPr>
              <a:t>Collaborative and iterative. </a:t>
            </a:r>
            <a:r>
              <a:rPr lang="en-US" sz="1333">
                <a:solidFill>
                  <a:srgbClr val="333333"/>
                </a:solidFill>
                <a:latin typeface="Calibri" pitchFamily="34" charset="0"/>
                <a:ea typeface="Calibri" pitchFamily="34" charset="-122"/>
                <a:cs typeface="Calibri" pitchFamily="34" charset="-120"/>
              </a:rPr>
              <a:t>We will refine shared standards across departments together.</a:t>
            </a:r>
          </a:p>
        </p:txBody>
      </p:sp>
      <p:sp>
        <p:nvSpPr>
          <p:cNvPr id="20" name="Text 16"/>
          <p:cNvSpPr/>
          <p:nvPr/>
        </p:nvSpPr>
        <p:spPr>
          <a:xfrm>
            <a:off x="7035900" y="4702601"/>
            <a:ext cx="4998720" cy="204076"/>
          </a:xfrm>
          <a:prstGeom prst="rect">
            <a:avLst/>
          </a:prstGeom>
          <a:noFill/>
          <a:ln/>
        </p:spPr>
        <p:txBody>
          <a:bodyPr wrap="square" rtlCol="0" anchor="ctr"/>
          <a:lstStyle/>
          <a:p>
            <a:pPr algn="ctr" defTabSz="1219170"/>
            <a:r>
              <a:rPr lang="en-US" sz="1200" i="1">
                <a:solidFill>
                  <a:srgbClr val="5A5A5A"/>
                </a:solidFill>
                <a:latin typeface="Calibri" pitchFamily="34" charset="0"/>
                <a:ea typeface="Calibri" pitchFamily="34" charset="-122"/>
                <a:cs typeface="Calibri" pitchFamily="34" charset="-120"/>
              </a:rPr>
              <a:t>Every chart plots CY vs. PY with a dashed red target line. One metric per slide.</a:t>
            </a:r>
            <a:endParaRPr lang="en-US" sz="1200">
              <a:solidFill>
                <a:prstClr val="black"/>
              </a:solidFill>
              <a:latin typeface="Calibri" panose="020F0502020204030204"/>
            </a:endParaRPr>
          </a:p>
        </p:txBody>
      </p:sp>
      <p:sp>
        <p:nvSpPr>
          <p:cNvPr id="21" name="Shape 17"/>
          <p:cNvSpPr/>
          <p:nvPr/>
        </p:nvSpPr>
        <p:spPr>
          <a:xfrm>
            <a:off x="0" y="6565392"/>
            <a:ext cx="12192000" cy="292608"/>
          </a:xfrm>
          <a:prstGeom prst="rect">
            <a:avLst/>
          </a:prstGeom>
          <a:solidFill>
            <a:srgbClr val="2056A7"/>
          </a:solidFill>
          <a:ln w="12700">
            <a:solidFill>
              <a:srgbClr val="2056A7"/>
            </a:solidFill>
            <a:prstDash val="solid"/>
          </a:ln>
        </p:spPr>
        <p:txBody>
          <a:bodyPr/>
          <a:lstStyle/>
          <a:p>
            <a:pPr defTabSz="1219170"/>
            <a:endParaRPr lang="en-US" sz="2400">
              <a:solidFill>
                <a:prstClr val="black"/>
              </a:solidFill>
              <a:latin typeface="Calibri" panose="020F0502020204030204"/>
            </a:endParaRPr>
          </a:p>
        </p:txBody>
      </p:sp>
      <p:sp>
        <p:nvSpPr>
          <p:cNvPr id="22" name="Text 18"/>
          <p:cNvSpPr/>
          <p:nvPr/>
        </p:nvSpPr>
        <p:spPr>
          <a:xfrm>
            <a:off x="11521440" y="6541008"/>
            <a:ext cx="487680" cy="292608"/>
          </a:xfrm>
          <a:prstGeom prst="rect">
            <a:avLst/>
          </a:prstGeom>
          <a:noFill/>
          <a:ln/>
        </p:spPr>
        <p:txBody>
          <a:bodyPr wrap="square" rtlCol="0" anchor="ctr"/>
          <a:lstStyle/>
          <a:p>
            <a:pPr algn="r" defTabSz="1219170"/>
            <a:r>
              <a:rPr lang="en-US" sz="1200">
                <a:solidFill>
                  <a:srgbClr val="FFFFFF"/>
                </a:solidFill>
                <a:latin typeface="Calibri" pitchFamily="34" charset="0"/>
                <a:ea typeface="Calibri" pitchFamily="34" charset="-122"/>
                <a:cs typeface="Calibri" pitchFamily="34" charset="-120"/>
              </a:rPr>
              <a:t>12</a:t>
            </a:r>
            <a:endParaRPr lang="en-US" sz="1200">
              <a:solidFill>
                <a:prstClr val="black"/>
              </a:solidFill>
              <a:latin typeface="Calibri" panose="020F0502020204030204"/>
            </a:endParaRPr>
          </a:p>
        </p:txBody>
      </p:sp>
      <p:sp>
        <p:nvSpPr>
          <p:cNvPr id="23" name="Shape 0">
            <a:extLst>
              <a:ext uri="{FF2B5EF4-FFF2-40B4-BE49-F238E27FC236}">
                <a16:creationId xmlns:a16="http://schemas.microsoft.com/office/drawing/2014/main" id="{CC8522A4-BFF3-03D6-E4EA-B8D8365B823F}"/>
              </a:ext>
            </a:extLst>
          </p:cNvPr>
          <p:cNvSpPr/>
          <p:nvPr/>
        </p:nvSpPr>
        <p:spPr>
          <a:xfrm>
            <a:off x="0" y="0"/>
            <a:ext cx="12192000" cy="512064"/>
          </a:xfrm>
          <a:prstGeom prst="rect">
            <a:avLst/>
          </a:prstGeom>
          <a:solidFill>
            <a:srgbClr val="122C57"/>
          </a:solidFill>
          <a:ln w="12700">
            <a:solidFill>
              <a:srgbClr val="122C57"/>
            </a:solidFill>
            <a:prstDash val="solid"/>
          </a:ln>
        </p:spPr>
        <p:txBody>
          <a:bodyPr/>
          <a:lstStyle/>
          <a:p>
            <a:pPr defTabSz="1219170">
              <a:defRPr/>
            </a:pPr>
            <a:endParaRPr lang="en-US" sz="2400">
              <a:solidFill>
                <a:prstClr val="black"/>
              </a:solidFill>
              <a:latin typeface="Calibri" panose="020F0502020204030204"/>
            </a:endParaRPr>
          </a:p>
        </p:txBody>
      </p:sp>
      <p:sp>
        <p:nvSpPr>
          <p:cNvPr id="24" name="Text 1">
            <a:extLst>
              <a:ext uri="{FF2B5EF4-FFF2-40B4-BE49-F238E27FC236}">
                <a16:creationId xmlns:a16="http://schemas.microsoft.com/office/drawing/2014/main" id="{BC839E9E-EA89-7BF6-F695-17A0A7A261EB}"/>
              </a:ext>
            </a:extLst>
          </p:cNvPr>
          <p:cNvSpPr/>
          <p:nvPr/>
        </p:nvSpPr>
        <p:spPr>
          <a:xfrm>
            <a:off x="487680" y="48768"/>
            <a:ext cx="11216640" cy="414528"/>
          </a:xfrm>
          <a:prstGeom prst="rect">
            <a:avLst/>
          </a:prstGeom>
          <a:noFill/>
          <a:ln/>
        </p:spPr>
        <p:txBody>
          <a:bodyPr wrap="square" rtlCol="0" anchor="ctr"/>
          <a:lstStyle/>
          <a:p>
            <a:pPr defTabSz="1219170">
              <a:defRPr/>
            </a:pPr>
            <a:r>
              <a:rPr lang="en-US" sz="1200" b="1" kern="0" spc="267">
                <a:solidFill>
                  <a:srgbClr val="B3E1F5"/>
                </a:solidFill>
                <a:latin typeface="Calibri" pitchFamily="34" charset="0"/>
                <a:ea typeface="Calibri" pitchFamily="34" charset="-122"/>
                <a:cs typeface="Calibri" pitchFamily="34" charset="-120"/>
              </a:rPr>
              <a:t>3- YOUR MATERIALS</a:t>
            </a:r>
            <a:endParaRPr lang="en-US" sz="1200">
              <a:solidFill>
                <a:prstClr val="black"/>
              </a:solidFill>
              <a:latin typeface="Calibri" panose="020F0502020204030204"/>
            </a:endParaRPr>
          </a:p>
        </p:txBody>
      </p:sp>
      <p:pic>
        <p:nvPicPr>
          <p:cNvPr id="25" name="Graphic 24">
            <a:extLst>
              <a:ext uri="{FF2B5EF4-FFF2-40B4-BE49-F238E27FC236}">
                <a16:creationId xmlns:a16="http://schemas.microsoft.com/office/drawing/2014/main" id="{C67A23AF-5217-B0FE-A21D-A9BE40011A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43924" y="24385"/>
            <a:ext cx="2565400" cy="444500"/>
          </a:xfrm>
          <a:prstGeom prst="rect">
            <a:avLst/>
          </a:prstGeom>
        </p:spPr>
      </p:pic>
      <p:sp>
        <p:nvSpPr>
          <p:cNvPr id="28" name="Shape 7">
            <a:extLst>
              <a:ext uri="{FF2B5EF4-FFF2-40B4-BE49-F238E27FC236}">
                <a16:creationId xmlns:a16="http://schemas.microsoft.com/office/drawing/2014/main" id="{653AD05E-274F-2513-3FE3-EA211761B550}"/>
              </a:ext>
            </a:extLst>
          </p:cNvPr>
          <p:cNvSpPr/>
          <p:nvPr/>
        </p:nvSpPr>
        <p:spPr>
          <a:xfrm>
            <a:off x="587108" y="3078712"/>
            <a:ext cx="243840" cy="243840"/>
          </a:xfrm>
          <a:prstGeom prst="ellipse">
            <a:avLst/>
          </a:prstGeom>
          <a:solidFill>
            <a:srgbClr val="2056A7"/>
          </a:solidFill>
          <a:ln w="12700">
            <a:solidFill>
              <a:srgbClr val="2056A7"/>
            </a:solidFill>
            <a:prstDash val="solid"/>
          </a:ln>
        </p:spPr>
        <p:txBody>
          <a:bodyPr/>
          <a:lstStyle/>
          <a:p>
            <a:pPr defTabSz="1219170"/>
            <a:endParaRPr lang="en-US" sz="2400">
              <a:solidFill>
                <a:prstClr val="black"/>
              </a:solidFill>
              <a:latin typeface="Calibri" panose="020F0502020204030204"/>
            </a:endParaRPr>
          </a:p>
        </p:txBody>
      </p:sp>
      <p:sp>
        <p:nvSpPr>
          <p:cNvPr id="29" name="Text 8">
            <a:extLst>
              <a:ext uri="{FF2B5EF4-FFF2-40B4-BE49-F238E27FC236}">
                <a16:creationId xmlns:a16="http://schemas.microsoft.com/office/drawing/2014/main" id="{4992BEB6-179B-349E-5D70-D3A4D5CA02A1}"/>
              </a:ext>
            </a:extLst>
          </p:cNvPr>
          <p:cNvSpPr/>
          <p:nvPr/>
        </p:nvSpPr>
        <p:spPr>
          <a:xfrm>
            <a:off x="804673" y="2915760"/>
            <a:ext cx="5812027" cy="755904"/>
          </a:xfrm>
          <a:prstGeom prst="rect">
            <a:avLst/>
          </a:prstGeom>
          <a:noFill/>
          <a:ln/>
        </p:spPr>
        <p:txBody>
          <a:bodyPr wrap="square" rtlCol="0" anchor="ctr"/>
          <a:lstStyle/>
          <a:p>
            <a:pPr defTabSz="1219170">
              <a:lnSpc>
                <a:spcPts val="1533"/>
              </a:lnSpc>
            </a:pPr>
            <a:r>
              <a:rPr lang="en-US" sz="1333" b="1">
                <a:solidFill>
                  <a:srgbClr val="122C57"/>
                </a:solidFill>
                <a:latin typeface="Calibri" pitchFamily="34" charset="0"/>
                <a:ea typeface="Calibri" pitchFamily="34" charset="-122"/>
                <a:cs typeface="Calibri" pitchFamily="34" charset="-120"/>
              </a:rPr>
              <a:t>Metric Strip. </a:t>
            </a:r>
            <a:r>
              <a:rPr lang="en-US" sz="1333">
                <a:solidFill>
                  <a:srgbClr val="333333"/>
                </a:solidFill>
                <a:latin typeface="Calibri" pitchFamily="34" charset="0"/>
                <a:ea typeface="Calibri" pitchFamily="34" charset="-122"/>
                <a:cs typeface="Calibri" pitchFamily="34" charset="-120"/>
              </a:rPr>
              <a:t>Show month‑over‑month, year‑over‑year, quarterly, and year‑to‑date comparisons.</a:t>
            </a:r>
          </a:p>
        </p:txBody>
      </p:sp>
      <p:pic>
        <p:nvPicPr>
          <p:cNvPr id="31" name="Picture 30">
            <a:extLst>
              <a:ext uri="{FF2B5EF4-FFF2-40B4-BE49-F238E27FC236}">
                <a16:creationId xmlns:a16="http://schemas.microsoft.com/office/drawing/2014/main" id="{EC58AD82-F414-AB3C-DCFD-0805021438F1}"/>
              </a:ext>
            </a:extLst>
          </p:cNvPr>
          <p:cNvPicPr>
            <a:picLocks noChangeAspect="1"/>
          </p:cNvPicPr>
          <p:nvPr/>
        </p:nvPicPr>
        <p:blipFill>
          <a:blip r:embed="rId4"/>
          <a:stretch>
            <a:fillRect/>
          </a:stretch>
        </p:blipFill>
        <p:spPr>
          <a:xfrm>
            <a:off x="6913980" y="1765347"/>
            <a:ext cx="5120640" cy="2743995"/>
          </a:xfrm>
          <a:prstGeom prst="rect">
            <a:avLst/>
          </a:prstGeom>
        </p:spPr>
      </p:pic>
      <p:pic>
        <p:nvPicPr>
          <p:cNvPr id="34" name="Picture 33">
            <a:extLst>
              <a:ext uri="{FF2B5EF4-FFF2-40B4-BE49-F238E27FC236}">
                <a16:creationId xmlns:a16="http://schemas.microsoft.com/office/drawing/2014/main" id="{2518D44F-E37B-8968-4715-53A44E59B72E}"/>
              </a:ext>
            </a:extLst>
          </p:cNvPr>
          <p:cNvPicPr>
            <a:picLocks noChangeAspect="1"/>
          </p:cNvPicPr>
          <p:nvPr/>
        </p:nvPicPr>
        <p:blipFill>
          <a:blip r:embed="rId5"/>
          <a:stretch>
            <a:fillRect/>
          </a:stretch>
        </p:blipFill>
        <p:spPr>
          <a:xfrm>
            <a:off x="10461467" y="1863237"/>
            <a:ext cx="707471" cy="221084"/>
          </a:xfrm>
          <a:prstGeom prst="rect">
            <a:avLst/>
          </a:prstGeom>
        </p:spPr>
      </p:pic>
      <p:sp>
        <p:nvSpPr>
          <p:cNvPr id="36" name="Shape 13">
            <a:extLst>
              <a:ext uri="{FF2B5EF4-FFF2-40B4-BE49-F238E27FC236}">
                <a16:creationId xmlns:a16="http://schemas.microsoft.com/office/drawing/2014/main" id="{90D6EEC5-5103-0555-8A14-A5DAA24F0085}"/>
              </a:ext>
            </a:extLst>
          </p:cNvPr>
          <p:cNvSpPr/>
          <p:nvPr/>
        </p:nvSpPr>
        <p:spPr>
          <a:xfrm>
            <a:off x="587108" y="5234620"/>
            <a:ext cx="243840" cy="243840"/>
          </a:xfrm>
          <a:prstGeom prst="ellipse">
            <a:avLst/>
          </a:prstGeom>
          <a:solidFill>
            <a:srgbClr val="2056A7"/>
          </a:solidFill>
          <a:ln w="12700">
            <a:solidFill>
              <a:srgbClr val="2056A7"/>
            </a:solidFill>
            <a:prstDash val="solid"/>
          </a:ln>
        </p:spPr>
        <p:txBody>
          <a:bodyPr/>
          <a:lstStyle/>
          <a:p>
            <a:pPr defTabSz="1219170"/>
            <a:endParaRPr lang="en-US" sz="2400">
              <a:solidFill>
                <a:prstClr val="black"/>
              </a:solidFill>
              <a:latin typeface="Calibri" panose="020F0502020204030204"/>
            </a:endParaRPr>
          </a:p>
        </p:txBody>
      </p:sp>
      <p:sp>
        <p:nvSpPr>
          <p:cNvPr id="37" name="Text 14">
            <a:extLst>
              <a:ext uri="{FF2B5EF4-FFF2-40B4-BE49-F238E27FC236}">
                <a16:creationId xmlns:a16="http://schemas.microsoft.com/office/drawing/2014/main" id="{D66D1752-B6BF-049B-A13C-04FBA689CA6E}"/>
              </a:ext>
            </a:extLst>
          </p:cNvPr>
          <p:cNvSpPr/>
          <p:nvPr/>
        </p:nvSpPr>
        <p:spPr>
          <a:xfrm>
            <a:off x="804673" y="5173659"/>
            <a:ext cx="6094640" cy="361812"/>
          </a:xfrm>
          <a:prstGeom prst="rect">
            <a:avLst/>
          </a:prstGeom>
          <a:noFill/>
          <a:ln/>
        </p:spPr>
        <p:txBody>
          <a:bodyPr wrap="square" rtlCol="0" anchor="ctr"/>
          <a:lstStyle/>
          <a:p>
            <a:pPr defTabSz="1219170">
              <a:lnSpc>
                <a:spcPts val="1533"/>
              </a:lnSpc>
            </a:pPr>
            <a:r>
              <a:rPr lang="en-US" sz="1333" b="1">
                <a:solidFill>
                  <a:srgbClr val="122C57"/>
                </a:solidFill>
                <a:latin typeface="Calibri" pitchFamily="34" charset="0"/>
                <a:ea typeface="Calibri" pitchFamily="34" charset="-122"/>
                <a:cs typeface="Calibri" pitchFamily="34" charset="-120"/>
              </a:rPr>
              <a:t>Narrative (not shown). </a:t>
            </a:r>
            <a:r>
              <a:rPr lang="en-US" sz="1333">
                <a:solidFill>
                  <a:prstClr val="black"/>
                </a:solidFill>
                <a:latin typeface="Calibri" pitchFamily="34" charset="0"/>
                <a:ea typeface="Calibri" pitchFamily="34" charset="-122"/>
                <a:cs typeface="Calibri" pitchFamily="34" charset="-120"/>
              </a:rPr>
              <a:t>Key Takeaways, Drivers, Decisions/Actions.</a:t>
            </a:r>
            <a:endParaRPr lang="en-US" sz="1333">
              <a:solidFill>
                <a:prstClr val="black"/>
              </a:solidFill>
              <a:latin typeface="Calibri" panose="020F0502020204030204"/>
            </a:endParaRPr>
          </a:p>
        </p:txBody>
      </p:sp>
      <p:sp>
        <p:nvSpPr>
          <p:cNvPr id="40" name="Shape 13">
            <a:extLst>
              <a:ext uri="{FF2B5EF4-FFF2-40B4-BE49-F238E27FC236}">
                <a16:creationId xmlns:a16="http://schemas.microsoft.com/office/drawing/2014/main" id="{8C097797-A71C-E4BF-4262-6F041AD31658}"/>
              </a:ext>
            </a:extLst>
          </p:cNvPr>
          <p:cNvSpPr/>
          <p:nvPr/>
        </p:nvSpPr>
        <p:spPr>
          <a:xfrm>
            <a:off x="587108" y="3597317"/>
            <a:ext cx="243840" cy="243840"/>
          </a:xfrm>
          <a:prstGeom prst="ellipse">
            <a:avLst/>
          </a:prstGeom>
          <a:solidFill>
            <a:srgbClr val="2056A7"/>
          </a:solidFill>
          <a:ln w="12700">
            <a:solidFill>
              <a:srgbClr val="2056A7"/>
            </a:solidFill>
            <a:prstDash val="solid"/>
          </a:ln>
        </p:spPr>
        <p:txBody>
          <a:bodyPr/>
          <a:lstStyle/>
          <a:p>
            <a:pPr defTabSz="1219170"/>
            <a:endParaRPr lang="en-US" sz="2400">
              <a:solidFill>
                <a:prstClr val="black"/>
              </a:solidFill>
              <a:latin typeface="Calibri" panose="020F0502020204030204"/>
            </a:endParaRPr>
          </a:p>
        </p:txBody>
      </p:sp>
      <p:sp>
        <p:nvSpPr>
          <p:cNvPr id="41" name="Text 14">
            <a:extLst>
              <a:ext uri="{FF2B5EF4-FFF2-40B4-BE49-F238E27FC236}">
                <a16:creationId xmlns:a16="http://schemas.microsoft.com/office/drawing/2014/main" id="{977BE4A1-F9F6-512C-5CE2-CE04C32E5991}"/>
              </a:ext>
            </a:extLst>
          </p:cNvPr>
          <p:cNvSpPr/>
          <p:nvPr/>
        </p:nvSpPr>
        <p:spPr>
          <a:xfrm>
            <a:off x="804673" y="3521413"/>
            <a:ext cx="5812027" cy="375679"/>
          </a:xfrm>
          <a:prstGeom prst="rect">
            <a:avLst/>
          </a:prstGeom>
          <a:noFill/>
          <a:ln/>
        </p:spPr>
        <p:txBody>
          <a:bodyPr wrap="square" rtlCol="0" anchor="ctr"/>
          <a:lstStyle/>
          <a:p>
            <a:pPr defTabSz="1219170">
              <a:lnSpc>
                <a:spcPts val="1533"/>
              </a:lnSpc>
            </a:pPr>
            <a:r>
              <a:rPr lang="en-US" sz="1333" b="1">
                <a:solidFill>
                  <a:srgbClr val="122C57"/>
                </a:solidFill>
                <a:latin typeface="Calibri" pitchFamily="34" charset="0"/>
                <a:ea typeface="Calibri" pitchFamily="34" charset="-122"/>
                <a:cs typeface="Calibri" pitchFamily="34" charset="-120"/>
              </a:rPr>
              <a:t>On Track, At Risk, Off Track. </a:t>
            </a:r>
            <a:r>
              <a:rPr lang="en-US" sz="1333">
                <a:solidFill>
                  <a:prstClr val="black"/>
                </a:solidFill>
                <a:latin typeface="Calibri" pitchFamily="34" charset="0"/>
                <a:ea typeface="Calibri" pitchFamily="34" charset="-122"/>
                <a:cs typeface="Calibri" pitchFamily="34" charset="-120"/>
              </a:rPr>
              <a:t>Use a label to clearly identify the trend.</a:t>
            </a:r>
          </a:p>
        </p:txBody>
      </p:sp>
      <p:sp>
        <p:nvSpPr>
          <p:cNvPr id="42" name="Shape 13">
            <a:extLst>
              <a:ext uri="{FF2B5EF4-FFF2-40B4-BE49-F238E27FC236}">
                <a16:creationId xmlns:a16="http://schemas.microsoft.com/office/drawing/2014/main" id="{C04315D6-B4DB-0530-717B-640E6B51968F}"/>
              </a:ext>
            </a:extLst>
          </p:cNvPr>
          <p:cNvSpPr/>
          <p:nvPr/>
        </p:nvSpPr>
        <p:spPr>
          <a:xfrm>
            <a:off x="587108" y="5596423"/>
            <a:ext cx="243840" cy="243840"/>
          </a:xfrm>
          <a:prstGeom prst="ellipse">
            <a:avLst/>
          </a:prstGeom>
          <a:solidFill>
            <a:srgbClr val="2056A7"/>
          </a:solidFill>
          <a:ln w="12700">
            <a:solidFill>
              <a:srgbClr val="2056A7"/>
            </a:solidFill>
            <a:prstDash val="solid"/>
          </a:ln>
        </p:spPr>
        <p:txBody>
          <a:bodyPr/>
          <a:lstStyle/>
          <a:p>
            <a:pPr defTabSz="1219170"/>
            <a:endParaRPr lang="en-US" sz="2400">
              <a:solidFill>
                <a:prstClr val="black"/>
              </a:solidFill>
              <a:latin typeface="Calibri" panose="020F0502020204030204"/>
            </a:endParaRPr>
          </a:p>
        </p:txBody>
      </p:sp>
      <p:sp>
        <p:nvSpPr>
          <p:cNvPr id="43" name="Text 14">
            <a:extLst>
              <a:ext uri="{FF2B5EF4-FFF2-40B4-BE49-F238E27FC236}">
                <a16:creationId xmlns:a16="http://schemas.microsoft.com/office/drawing/2014/main" id="{31A1A521-7327-F148-F662-882F24AF6F27}"/>
              </a:ext>
            </a:extLst>
          </p:cNvPr>
          <p:cNvSpPr/>
          <p:nvPr/>
        </p:nvSpPr>
        <p:spPr>
          <a:xfrm>
            <a:off x="804674" y="5344571"/>
            <a:ext cx="5241785" cy="755904"/>
          </a:xfrm>
          <a:prstGeom prst="rect">
            <a:avLst/>
          </a:prstGeom>
          <a:noFill/>
          <a:ln/>
        </p:spPr>
        <p:txBody>
          <a:bodyPr wrap="square" rtlCol="0" anchor="ctr"/>
          <a:lstStyle/>
          <a:p>
            <a:pPr defTabSz="1219170">
              <a:lnSpc>
                <a:spcPts val="1533"/>
              </a:lnSpc>
            </a:pPr>
            <a:r>
              <a:rPr lang="en-US" sz="1333" b="1">
                <a:solidFill>
                  <a:srgbClr val="122C57"/>
                </a:solidFill>
                <a:latin typeface="Calibri" pitchFamily="34" charset="0"/>
                <a:ea typeface="Calibri" pitchFamily="34" charset="-122"/>
                <a:cs typeface="Calibri" pitchFamily="34" charset="-120"/>
              </a:rPr>
              <a:t>Page Numbers (not shown). </a:t>
            </a:r>
            <a:r>
              <a:rPr lang="en-US" sz="1333">
                <a:solidFill>
                  <a:prstClr val="black"/>
                </a:solidFill>
                <a:latin typeface="Calibri" pitchFamily="34" charset="0"/>
                <a:ea typeface="Calibri" pitchFamily="34" charset="-122"/>
                <a:cs typeface="Calibri" pitchFamily="34" charset="-120"/>
              </a:rPr>
              <a:t>Allows for jumping around the deck.</a:t>
            </a:r>
            <a:endParaRPr lang="en-US" sz="1333">
              <a:solidFill>
                <a:prstClr val="black"/>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2440" y="749808"/>
            <a:ext cx="8686800" cy="548640"/>
          </a:xfrm>
          <a:prstGeom prst="rect">
            <a:avLst/>
          </a:prstGeom>
          <a:noFill/>
          <a:ln/>
        </p:spPr>
        <p:txBody>
          <a:bodyPr wrap="square" rtlCol="0" anchor="ctr"/>
          <a:lstStyle/>
          <a:p>
            <a:pPr defTabSz="914377">
              <a:defRPr/>
            </a:pPr>
            <a:r>
              <a:rPr lang="en-US" sz="3467" b="1">
                <a:solidFill>
                  <a:srgbClr val="122C57"/>
                </a:solidFill>
                <a:latin typeface="Calibri" pitchFamily="34" charset="0"/>
                <a:ea typeface="Calibri" pitchFamily="34" charset="-122"/>
                <a:cs typeface="Calibri" pitchFamily="34" charset="-120"/>
              </a:rPr>
              <a:t>Time to Fill</a:t>
            </a:r>
            <a:endParaRPr lang="en-US" sz="3467">
              <a:solidFill>
                <a:prstClr val="black"/>
              </a:solidFill>
              <a:latin typeface="Aptos" panose="02110004020202020204"/>
            </a:endParaRPr>
          </a:p>
        </p:txBody>
      </p:sp>
      <p:sp>
        <p:nvSpPr>
          <p:cNvPr id="3" name="Shape 1">
            <a:extLst>
              <a:ext uri="{C183D7F6-B498-43B3-948B-1728B52AA6E4}">
                <adec:decorative xmlns:adec="http://schemas.microsoft.com/office/drawing/2017/decorative" val="1"/>
              </a:ext>
            </a:extLst>
          </p:cNvPr>
          <p:cNvSpPr/>
          <p:nvPr/>
        </p:nvSpPr>
        <p:spPr>
          <a:xfrm flipV="1">
            <a:off x="518160" y="1298448"/>
            <a:ext cx="7635240" cy="0"/>
          </a:xfrm>
          <a:prstGeom prst="line">
            <a:avLst/>
          </a:prstGeom>
          <a:noFill/>
          <a:ln w="31750">
            <a:solidFill>
              <a:srgbClr val="122C57"/>
            </a:solidFill>
            <a:prstDash val="solid"/>
          </a:ln>
        </p:spPr>
        <p:txBody>
          <a:bodyPr/>
          <a:lstStyle/>
          <a:p>
            <a:pPr defTabSz="914377">
              <a:defRPr/>
            </a:pPr>
            <a:endParaRPr lang="en-US">
              <a:solidFill>
                <a:prstClr val="black"/>
              </a:solidFill>
              <a:latin typeface="Aptos" panose="02110004020202020204"/>
            </a:endParaRPr>
          </a:p>
        </p:txBody>
      </p:sp>
      <p:sp>
        <p:nvSpPr>
          <p:cNvPr id="8" name="Shape 5">
            <a:extLst>
              <a:ext uri="{C183D7F6-B498-43B3-948B-1728B52AA6E4}">
                <adec:decorative xmlns:adec="http://schemas.microsoft.com/office/drawing/2017/decorative" val="1"/>
              </a:ext>
            </a:extLst>
          </p:cNvPr>
          <p:cNvSpPr/>
          <p:nvPr/>
        </p:nvSpPr>
        <p:spPr>
          <a:xfrm>
            <a:off x="472440" y="1600200"/>
            <a:ext cx="7680960" cy="4023360"/>
          </a:xfrm>
          <a:prstGeom prst="roundRect">
            <a:avLst>
              <a:gd name="adj" fmla="val 1364"/>
            </a:avLst>
          </a:prstGeom>
          <a:solidFill>
            <a:srgbClr val="FFFFFF"/>
          </a:solidFill>
          <a:ln w="12700">
            <a:solidFill>
              <a:srgbClr val="D9DDE3"/>
            </a:solidFill>
            <a:prstDash val="solid"/>
          </a:ln>
        </p:spPr>
        <p:txBody>
          <a:bodyPr/>
          <a:lstStyle/>
          <a:p>
            <a:pPr defTabSz="914377">
              <a:defRPr/>
            </a:pPr>
            <a:endParaRPr lang="en-US">
              <a:solidFill>
                <a:prstClr val="black"/>
              </a:solidFill>
              <a:latin typeface="Aptos" panose="02110004020202020204"/>
            </a:endParaRPr>
          </a:p>
        </p:txBody>
      </p:sp>
      <p:sp>
        <p:nvSpPr>
          <p:cNvPr id="9" name="Text 6"/>
          <p:cNvSpPr/>
          <p:nvPr/>
        </p:nvSpPr>
        <p:spPr>
          <a:xfrm>
            <a:off x="655320" y="1709928"/>
            <a:ext cx="7315200" cy="274320"/>
          </a:xfrm>
          <a:prstGeom prst="rect">
            <a:avLst/>
          </a:prstGeom>
          <a:noFill/>
          <a:ln/>
        </p:spPr>
        <p:txBody>
          <a:bodyPr wrap="square" rtlCol="0" anchor="ctr"/>
          <a:lstStyle/>
          <a:p>
            <a:pPr algn="ctr" defTabSz="914377">
              <a:defRPr/>
            </a:pPr>
            <a:r>
              <a:rPr lang="en-US" sz="1500" b="1">
                <a:solidFill>
                  <a:srgbClr val="333333"/>
                </a:solidFill>
                <a:latin typeface="Calibri" pitchFamily="34" charset="0"/>
                <a:ea typeface="Calibri" pitchFamily="34" charset="-122"/>
                <a:cs typeface="Calibri" pitchFamily="34" charset="-120"/>
              </a:rPr>
              <a:t>Avg. Days: Posting to Offer Accepted</a:t>
            </a:r>
            <a:endParaRPr lang="en-US" sz="1500">
              <a:solidFill>
                <a:prstClr val="black"/>
              </a:solidFill>
              <a:latin typeface="Aptos" panose="02110004020202020204"/>
            </a:endParaRPr>
          </a:p>
        </p:txBody>
      </p:sp>
      <p:graphicFrame>
        <p:nvGraphicFramePr>
          <p:cNvPr id="10" name="Chart 0"/>
          <p:cNvGraphicFramePr/>
          <p:nvPr/>
        </p:nvGraphicFramePr>
        <p:xfrm>
          <a:off x="609600" y="2057400"/>
          <a:ext cx="740664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7"/>
          <p:cNvSpPr/>
          <p:nvPr/>
        </p:nvSpPr>
        <p:spPr>
          <a:xfrm>
            <a:off x="7444740" y="3374136"/>
            <a:ext cx="640080" cy="237744"/>
          </a:xfrm>
          <a:prstGeom prst="rect">
            <a:avLst/>
          </a:prstGeom>
          <a:noFill/>
          <a:ln/>
        </p:spPr>
        <p:txBody>
          <a:bodyPr wrap="square" rtlCol="0" anchor="ctr"/>
          <a:lstStyle/>
          <a:p>
            <a:pPr algn="ctr" defTabSz="914377">
              <a:defRPr/>
            </a:pPr>
            <a:r>
              <a:rPr lang="en-US" sz="1200" b="1">
                <a:solidFill>
                  <a:srgbClr val="122C57"/>
                </a:solidFill>
                <a:latin typeface="Calibri" pitchFamily="34" charset="0"/>
                <a:ea typeface="Calibri" pitchFamily="34" charset="-122"/>
                <a:cs typeface="Calibri" pitchFamily="34" charset="-120"/>
              </a:rPr>
              <a:t>86</a:t>
            </a:r>
            <a:endParaRPr lang="en-US" sz="1200">
              <a:solidFill>
                <a:prstClr val="black"/>
              </a:solidFill>
              <a:latin typeface="Aptos" panose="02110004020202020204"/>
            </a:endParaRPr>
          </a:p>
        </p:txBody>
      </p:sp>
      <p:sp>
        <p:nvSpPr>
          <p:cNvPr id="12" name="Text 8"/>
          <p:cNvSpPr/>
          <p:nvPr/>
        </p:nvSpPr>
        <p:spPr>
          <a:xfrm>
            <a:off x="746761" y="5056632"/>
            <a:ext cx="891540" cy="201168"/>
          </a:xfrm>
          <a:prstGeom prst="rect">
            <a:avLst/>
          </a:prstGeom>
          <a:noFill/>
          <a:ln/>
        </p:spPr>
        <p:txBody>
          <a:bodyPr wrap="square" rtlCol="0" anchor="ctr"/>
          <a:lstStyle/>
          <a:p>
            <a:pPr algn="ctr" defTabSz="914377">
              <a:defRPr/>
            </a:pPr>
            <a:r>
              <a:rPr lang="en-US" sz="951" b="1" u="sng">
                <a:solidFill>
                  <a:srgbClr val="122C57"/>
                </a:solidFill>
                <a:latin typeface="Calibri" pitchFamily="34" charset="0"/>
                <a:ea typeface="Calibri" pitchFamily="34" charset="-122"/>
                <a:cs typeface="Calibri" pitchFamily="34" charset="-120"/>
              </a:rPr>
              <a:t>Current</a:t>
            </a:r>
            <a:endParaRPr lang="en-US" sz="951">
              <a:solidFill>
                <a:prstClr val="black"/>
              </a:solidFill>
              <a:latin typeface="Aptos" panose="02110004020202020204"/>
            </a:endParaRPr>
          </a:p>
        </p:txBody>
      </p:sp>
      <p:sp>
        <p:nvSpPr>
          <p:cNvPr id="13" name="Text 9"/>
          <p:cNvSpPr/>
          <p:nvPr/>
        </p:nvSpPr>
        <p:spPr>
          <a:xfrm>
            <a:off x="746761" y="5257800"/>
            <a:ext cx="891540" cy="237744"/>
          </a:xfrm>
          <a:prstGeom prst="rect">
            <a:avLst/>
          </a:prstGeom>
          <a:noFill/>
          <a:ln/>
        </p:spPr>
        <p:txBody>
          <a:bodyPr wrap="square" rtlCol="0" anchor="ctr"/>
          <a:lstStyle/>
          <a:p>
            <a:pPr algn="ctr" defTabSz="914377">
              <a:defRPr/>
            </a:pPr>
            <a:r>
              <a:rPr lang="en-US" sz="1200" b="1">
                <a:solidFill>
                  <a:srgbClr val="1E7A46"/>
                </a:solidFill>
                <a:latin typeface="Calibri" pitchFamily="34" charset="0"/>
                <a:ea typeface="Calibri" pitchFamily="34" charset="-122"/>
                <a:cs typeface="Calibri" pitchFamily="34" charset="-120"/>
              </a:rPr>
              <a:t>86 d</a:t>
            </a:r>
            <a:endParaRPr lang="en-US" sz="1200">
              <a:solidFill>
                <a:prstClr val="black"/>
              </a:solidFill>
              <a:latin typeface="Aptos" panose="02110004020202020204"/>
            </a:endParaRPr>
          </a:p>
        </p:txBody>
      </p:sp>
      <p:sp>
        <p:nvSpPr>
          <p:cNvPr id="14" name="Text 10"/>
          <p:cNvSpPr/>
          <p:nvPr/>
        </p:nvSpPr>
        <p:spPr>
          <a:xfrm>
            <a:off x="2599563" y="5056632"/>
            <a:ext cx="891540" cy="201168"/>
          </a:xfrm>
          <a:prstGeom prst="rect">
            <a:avLst/>
          </a:prstGeom>
          <a:noFill/>
          <a:ln/>
        </p:spPr>
        <p:txBody>
          <a:bodyPr wrap="square" rtlCol="0" anchor="ctr"/>
          <a:lstStyle/>
          <a:p>
            <a:pPr algn="ctr" defTabSz="914377">
              <a:defRPr/>
            </a:pPr>
            <a:r>
              <a:rPr lang="en-US" sz="951" b="1" u="sng">
                <a:solidFill>
                  <a:srgbClr val="122C57"/>
                </a:solidFill>
                <a:latin typeface="Calibri" pitchFamily="34" charset="0"/>
                <a:ea typeface="Calibri" pitchFamily="34" charset="-122"/>
                <a:cs typeface="Calibri" pitchFamily="34" charset="-120"/>
              </a:rPr>
              <a:t>MOM</a:t>
            </a:r>
            <a:endParaRPr lang="en-US" sz="951">
              <a:solidFill>
                <a:prstClr val="black"/>
              </a:solidFill>
              <a:latin typeface="Aptos" panose="02110004020202020204"/>
            </a:endParaRPr>
          </a:p>
        </p:txBody>
      </p:sp>
      <p:sp>
        <p:nvSpPr>
          <p:cNvPr id="15" name="Text 11"/>
          <p:cNvSpPr/>
          <p:nvPr/>
        </p:nvSpPr>
        <p:spPr>
          <a:xfrm>
            <a:off x="2599563" y="5276088"/>
            <a:ext cx="891540" cy="237744"/>
          </a:xfrm>
          <a:prstGeom prst="rect">
            <a:avLst/>
          </a:prstGeom>
          <a:noFill/>
          <a:ln/>
        </p:spPr>
        <p:txBody>
          <a:bodyPr wrap="square" rtlCol="0" anchor="ctr"/>
          <a:lstStyle/>
          <a:p>
            <a:pPr algn="ctr" defTabSz="914377">
              <a:defRPr/>
            </a:pPr>
            <a:r>
              <a:rPr lang="en-US" sz="1200" b="1">
                <a:solidFill>
                  <a:srgbClr val="1E7A46"/>
                </a:solidFill>
                <a:latin typeface="Calibri" pitchFamily="34" charset="0"/>
                <a:ea typeface="Calibri" pitchFamily="34" charset="-122"/>
                <a:cs typeface="Calibri" pitchFamily="34" charset="-120"/>
              </a:rPr>
              <a:t>−2 d</a:t>
            </a:r>
            <a:endParaRPr lang="en-US" sz="1200">
              <a:solidFill>
                <a:prstClr val="black"/>
              </a:solidFill>
              <a:latin typeface="Aptos" panose="02110004020202020204"/>
            </a:endParaRPr>
          </a:p>
        </p:txBody>
      </p:sp>
      <p:sp>
        <p:nvSpPr>
          <p:cNvPr id="16" name="Text 12"/>
          <p:cNvSpPr/>
          <p:nvPr/>
        </p:nvSpPr>
        <p:spPr>
          <a:xfrm>
            <a:off x="3321178" y="5056632"/>
            <a:ext cx="891540" cy="201168"/>
          </a:xfrm>
          <a:prstGeom prst="rect">
            <a:avLst/>
          </a:prstGeom>
          <a:noFill/>
          <a:ln/>
        </p:spPr>
        <p:txBody>
          <a:bodyPr wrap="square" rtlCol="0" anchor="ctr"/>
          <a:lstStyle/>
          <a:p>
            <a:pPr algn="ctr" defTabSz="914377">
              <a:defRPr/>
            </a:pPr>
            <a:r>
              <a:rPr lang="en-US" sz="951" b="1" u="sng">
                <a:solidFill>
                  <a:srgbClr val="122C57"/>
                </a:solidFill>
                <a:latin typeface="Calibri" pitchFamily="34" charset="0"/>
                <a:ea typeface="Calibri" pitchFamily="34" charset="-122"/>
                <a:cs typeface="Calibri" pitchFamily="34" charset="-120"/>
              </a:rPr>
              <a:t>YOY</a:t>
            </a:r>
            <a:endParaRPr lang="en-US" sz="951">
              <a:solidFill>
                <a:prstClr val="black"/>
              </a:solidFill>
              <a:latin typeface="Aptos" panose="02110004020202020204"/>
            </a:endParaRPr>
          </a:p>
        </p:txBody>
      </p:sp>
      <p:sp>
        <p:nvSpPr>
          <p:cNvPr id="17" name="Text 13"/>
          <p:cNvSpPr/>
          <p:nvPr/>
        </p:nvSpPr>
        <p:spPr>
          <a:xfrm>
            <a:off x="3321178" y="5276088"/>
            <a:ext cx="891540" cy="237744"/>
          </a:xfrm>
          <a:prstGeom prst="rect">
            <a:avLst/>
          </a:prstGeom>
          <a:noFill/>
          <a:ln/>
        </p:spPr>
        <p:txBody>
          <a:bodyPr wrap="square" rtlCol="0" anchor="ctr"/>
          <a:lstStyle/>
          <a:p>
            <a:pPr algn="ctr" defTabSz="914377">
              <a:defRPr/>
            </a:pPr>
            <a:r>
              <a:rPr lang="en-US" sz="1200" b="1">
                <a:solidFill>
                  <a:srgbClr val="1E7A46"/>
                </a:solidFill>
                <a:latin typeface="Calibri" pitchFamily="34" charset="0"/>
                <a:ea typeface="Calibri" pitchFamily="34" charset="-122"/>
                <a:cs typeface="Calibri" pitchFamily="34" charset="-120"/>
              </a:rPr>
              <a:t>−20 d</a:t>
            </a:r>
            <a:endParaRPr lang="en-US" sz="1200">
              <a:solidFill>
                <a:prstClr val="black"/>
              </a:solidFill>
              <a:latin typeface="Aptos" panose="02110004020202020204"/>
            </a:endParaRPr>
          </a:p>
        </p:txBody>
      </p:sp>
      <p:sp>
        <p:nvSpPr>
          <p:cNvPr id="18" name="Text 14"/>
          <p:cNvSpPr/>
          <p:nvPr/>
        </p:nvSpPr>
        <p:spPr>
          <a:xfrm>
            <a:off x="4365118" y="5056632"/>
            <a:ext cx="891540" cy="201168"/>
          </a:xfrm>
          <a:prstGeom prst="rect">
            <a:avLst/>
          </a:prstGeom>
          <a:noFill/>
          <a:ln/>
        </p:spPr>
        <p:txBody>
          <a:bodyPr wrap="square" rtlCol="0" anchor="ctr"/>
          <a:lstStyle/>
          <a:p>
            <a:pPr algn="ctr" defTabSz="914377">
              <a:defRPr/>
            </a:pPr>
            <a:r>
              <a:rPr lang="en-US" sz="951" b="1" u="sng">
                <a:solidFill>
                  <a:srgbClr val="122C57"/>
                </a:solidFill>
                <a:latin typeface="Calibri" pitchFamily="34" charset="0"/>
                <a:ea typeface="Calibri" pitchFamily="34" charset="-122"/>
                <a:cs typeface="Calibri" pitchFamily="34" charset="-120"/>
              </a:rPr>
              <a:t>QTD</a:t>
            </a:r>
            <a:endParaRPr lang="en-US" sz="951">
              <a:solidFill>
                <a:prstClr val="black"/>
              </a:solidFill>
              <a:latin typeface="Aptos" panose="02110004020202020204"/>
            </a:endParaRPr>
          </a:p>
        </p:txBody>
      </p:sp>
      <p:sp>
        <p:nvSpPr>
          <p:cNvPr id="19" name="Text 15"/>
          <p:cNvSpPr/>
          <p:nvPr/>
        </p:nvSpPr>
        <p:spPr>
          <a:xfrm>
            <a:off x="4365118" y="5276088"/>
            <a:ext cx="891540" cy="237744"/>
          </a:xfrm>
          <a:prstGeom prst="rect">
            <a:avLst/>
          </a:prstGeom>
          <a:noFill/>
          <a:ln/>
        </p:spPr>
        <p:txBody>
          <a:bodyPr wrap="square" rtlCol="0" anchor="ctr"/>
          <a:lstStyle/>
          <a:p>
            <a:pPr algn="ctr" defTabSz="914377">
              <a:defRPr/>
            </a:pPr>
            <a:r>
              <a:rPr lang="en-US" sz="1200" b="1">
                <a:solidFill>
                  <a:srgbClr val="1E7A46"/>
                </a:solidFill>
                <a:latin typeface="Calibri" pitchFamily="34" charset="0"/>
                <a:ea typeface="Calibri" pitchFamily="34" charset="-122"/>
                <a:cs typeface="Calibri" pitchFamily="34" charset="-120"/>
              </a:rPr>
              <a:t>88 d</a:t>
            </a:r>
            <a:endParaRPr lang="en-US" sz="1200">
              <a:solidFill>
                <a:prstClr val="black"/>
              </a:solidFill>
              <a:latin typeface="Aptos" panose="02110004020202020204"/>
            </a:endParaRPr>
          </a:p>
        </p:txBody>
      </p:sp>
      <p:sp>
        <p:nvSpPr>
          <p:cNvPr id="20" name="Text 16"/>
          <p:cNvSpPr/>
          <p:nvPr/>
        </p:nvSpPr>
        <p:spPr>
          <a:xfrm>
            <a:off x="5256658" y="5056632"/>
            <a:ext cx="891540" cy="201168"/>
          </a:xfrm>
          <a:prstGeom prst="rect">
            <a:avLst/>
          </a:prstGeom>
          <a:noFill/>
          <a:ln/>
        </p:spPr>
        <p:txBody>
          <a:bodyPr wrap="square" rtlCol="0" anchor="ctr"/>
          <a:lstStyle/>
          <a:p>
            <a:pPr algn="ctr" defTabSz="914377">
              <a:defRPr/>
            </a:pPr>
            <a:r>
              <a:rPr lang="en-US" sz="951" b="1" u="sng">
                <a:solidFill>
                  <a:srgbClr val="122C57"/>
                </a:solidFill>
                <a:latin typeface="Calibri" pitchFamily="34" charset="0"/>
                <a:ea typeface="Calibri" pitchFamily="34" charset="-122"/>
                <a:cs typeface="Calibri" pitchFamily="34" charset="-120"/>
              </a:rPr>
              <a:t>YOY</a:t>
            </a:r>
            <a:endParaRPr lang="en-US" sz="951">
              <a:solidFill>
                <a:prstClr val="black"/>
              </a:solidFill>
              <a:latin typeface="Aptos" panose="02110004020202020204"/>
            </a:endParaRPr>
          </a:p>
        </p:txBody>
      </p:sp>
      <p:sp>
        <p:nvSpPr>
          <p:cNvPr id="21" name="Text 17"/>
          <p:cNvSpPr/>
          <p:nvPr/>
        </p:nvSpPr>
        <p:spPr>
          <a:xfrm>
            <a:off x="5256658" y="5276088"/>
            <a:ext cx="891540" cy="237744"/>
          </a:xfrm>
          <a:prstGeom prst="rect">
            <a:avLst/>
          </a:prstGeom>
          <a:noFill/>
          <a:ln/>
        </p:spPr>
        <p:txBody>
          <a:bodyPr wrap="square" rtlCol="0" anchor="ctr"/>
          <a:lstStyle/>
          <a:p>
            <a:pPr algn="ctr" defTabSz="914377">
              <a:defRPr/>
            </a:pPr>
            <a:r>
              <a:rPr lang="en-US" sz="1200" b="1">
                <a:solidFill>
                  <a:srgbClr val="1E7A46"/>
                </a:solidFill>
                <a:latin typeface="Calibri" pitchFamily="34" charset="0"/>
                <a:ea typeface="Calibri" pitchFamily="34" charset="-122"/>
                <a:cs typeface="Calibri" pitchFamily="34" charset="-120"/>
              </a:rPr>
              <a:t>−18 d</a:t>
            </a:r>
            <a:endParaRPr lang="en-US" sz="1200">
              <a:solidFill>
                <a:prstClr val="black"/>
              </a:solidFill>
              <a:latin typeface="Aptos" panose="02110004020202020204"/>
            </a:endParaRPr>
          </a:p>
        </p:txBody>
      </p:sp>
      <p:sp>
        <p:nvSpPr>
          <p:cNvPr id="22" name="Text 18"/>
          <p:cNvSpPr/>
          <p:nvPr/>
        </p:nvSpPr>
        <p:spPr>
          <a:xfrm>
            <a:off x="6148198" y="5056632"/>
            <a:ext cx="891540" cy="201168"/>
          </a:xfrm>
          <a:prstGeom prst="rect">
            <a:avLst/>
          </a:prstGeom>
          <a:noFill/>
          <a:ln/>
        </p:spPr>
        <p:txBody>
          <a:bodyPr wrap="square" rtlCol="0" anchor="ctr"/>
          <a:lstStyle/>
          <a:p>
            <a:pPr algn="ctr" defTabSz="914377">
              <a:defRPr/>
            </a:pPr>
            <a:r>
              <a:rPr lang="en-US" sz="951" b="1" u="sng">
                <a:solidFill>
                  <a:srgbClr val="122C57"/>
                </a:solidFill>
                <a:latin typeface="Calibri" pitchFamily="34" charset="0"/>
                <a:ea typeface="Calibri" pitchFamily="34" charset="-122"/>
                <a:cs typeface="Calibri" pitchFamily="34" charset="-120"/>
              </a:rPr>
              <a:t>YTD</a:t>
            </a:r>
            <a:endParaRPr lang="en-US" sz="951">
              <a:solidFill>
                <a:prstClr val="black"/>
              </a:solidFill>
              <a:latin typeface="Aptos" panose="02110004020202020204"/>
            </a:endParaRPr>
          </a:p>
        </p:txBody>
      </p:sp>
      <p:sp>
        <p:nvSpPr>
          <p:cNvPr id="23" name="Text 19"/>
          <p:cNvSpPr/>
          <p:nvPr/>
        </p:nvSpPr>
        <p:spPr>
          <a:xfrm>
            <a:off x="6148198" y="5276088"/>
            <a:ext cx="891540" cy="237744"/>
          </a:xfrm>
          <a:prstGeom prst="rect">
            <a:avLst/>
          </a:prstGeom>
          <a:noFill/>
          <a:ln/>
        </p:spPr>
        <p:txBody>
          <a:bodyPr wrap="square" rtlCol="0" anchor="ctr"/>
          <a:lstStyle/>
          <a:p>
            <a:pPr algn="ctr" defTabSz="914377">
              <a:defRPr/>
            </a:pPr>
            <a:r>
              <a:rPr lang="en-US" sz="1200" b="1">
                <a:solidFill>
                  <a:srgbClr val="B8860B"/>
                </a:solidFill>
                <a:latin typeface="Calibri" pitchFamily="34" charset="0"/>
                <a:ea typeface="Calibri" pitchFamily="34" charset="-122"/>
                <a:cs typeface="Calibri" pitchFamily="34" charset="-120"/>
              </a:rPr>
              <a:t>92 d</a:t>
            </a:r>
            <a:endParaRPr lang="en-US" sz="1200">
              <a:solidFill>
                <a:prstClr val="black"/>
              </a:solidFill>
              <a:latin typeface="Aptos" panose="02110004020202020204"/>
            </a:endParaRPr>
          </a:p>
        </p:txBody>
      </p:sp>
      <p:sp>
        <p:nvSpPr>
          <p:cNvPr id="24" name="Text 20"/>
          <p:cNvSpPr/>
          <p:nvPr/>
        </p:nvSpPr>
        <p:spPr>
          <a:xfrm>
            <a:off x="7039738" y="5056632"/>
            <a:ext cx="891540" cy="201168"/>
          </a:xfrm>
          <a:prstGeom prst="rect">
            <a:avLst/>
          </a:prstGeom>
          <a:noFill/>
          <a:ln/>
        </p:spPr>
        <p:txBody>
          <a:bodyPr wrap="square" rtlCol="0" anchor="ctr"/>
          <a:lstStyle/>
          <a:p>
            <a:pPr algn="ctr" defTabSz="914377">
              <a:defRPr/>
            </a:pPr>
            <a:r>
              <a:rPr lang="en-US" sz="951" b="1" u="sng">
                <a:solidFill>
                  <a:srgbClr val="122C57"/>
                </a:solidFill>
                <a:latin typeface="Calibri" pitchFamily="34" charset="0"/>
                <a:ea typeface="Calibri" pitchFamily="34" charset="-122"/>
                <a:cs typeface="Calibri" pitchFamily="34" charset="-120"/>
              </a:rPr>
              <a:t>YOY</a:t>
            </a:r>
            <a:endParaRPr lang="en-US" sz="951">
              <a:solidFill>
                <a:prstClr val="black"/>
              </a:solidFill>
              <a:latin typeface="Aptos" panose="02110004020202020204"/>
            </a:endParaRPr>
          </a:p>
        </p:txBody>
      </p:sp>
      <p:sp>
        <p:nvSpPr>
          <p:cNvPr id="25" name="Text 21"/>
          <p:cNvSpPr/>
          <p:nvPr/>
        </p:nvSpPr>
        <p:spPr>
          <a:xfrm>
            <a:off x="7039738" y="5276088"/>
            <a:ext cx="891540" cy="237744"/>
          </a:xfrm>
          <a:prstGeom prst="rect">
            <a:avLst/>
          </a:prstGeom>
          <a:noFill/>
          <a:ln/>
        </p:spPr>
        <p:txBody>
          <a:bodyPr wrap="square" rtlCol="0" anchor="ctr"/>
          <a:lstStyle/>
          <a:p>
            <a:pPr algn="ctr" defTabSz="914377">
              <a:defRPr/>
            </a:pPr>
            <a:r>
              <a:rPr lang="en-US" sz="1200" b="1">
                <a:solidFill>
                  <a:srgbClr val="1E7A46"/>
                </a:solidFill>
                <a:latin typeface="Calibri" pitchFamily="34" charset="0"/>
                <a:ea typeface="Calibri" pitchFamily="34" charset="-122"/>
                <a:cs typeface="Calibri" pitchFamily="34" charset="-120"/>
              </a:rPr>
              <a:t>−16 d</a:t>
            </a:r>
            <a:endParaRPr lang="en-US" sz="1200">
              <a:solidFill>
                <a:prstClr val="black"/>
              </a:solidFill>
              <a:latin typeface="Aptos" panose="02110004020202020204"/>
            </a:endParaRPr>
          </a:p>
        </p:txBody>
      </p:sp>
      <p:sp>
        <p:nvSpPr>
          <p:cNvPr id="26" name="Text 22"/>
          <p:cNvSpPr/>
          <p:nvPr/>
        </p:nvSpPr>
        <p:spPr>
          <a:xfrm>
            <a:off x="1544194" y="5056632"/>
            <a:ext cx="891540" cy="201168"/>
          </a:xfrm>
          <a:prstGeom prst="rect">
            <a:avLst/>
          </a:prstGeom>
          <a:noFill/>
          <a:ln/>
        </p:spPr>
        <p:txBody>
          <a:bodyPr wrap="square" rtlCol="0" anchor="ctr"/>
          <a:lstStyle/>
          <a:p>
            <a:pPr algn="ctr" defTabSz="914377">
              <a:defRPr/>
            </a:pPr>
            <a:r>
              <a:rPr lang="en-US" sz="951" b="1" u="sng">
                <a:solidFill>
                  <a:srgbClr val="122C57"/>
                </a:solidFill>
                <a:latin typeface="Calibri" pitchFamily="34" charset="0"/>
                <a:ea typeface="Calibri" pitchFamily="34" charset="-122"/>
                <a:cs typeface="Calibri" pitchFamily="34" charset="-120"/>
              </a:rPr>
              <a:t>Target</a:t>
            </a:r>
            <a:endParaRPr lang="en-US" sz="951">
              <a:solidFill>
                <a:prstClr val="black"/>
              </a:solidFill>
              <a:latin typeface="Aptos" panose="02110004020202020204"/>
            </a:endParaRPr>
          </a:p>
        </p:txBody>
      </p:sp>
      <p:sp>
        <p:nvSpPr>
          <p:cNvPr id="27" name="Text 23"/>
          <p:cNvSpPr/>
          <p:nvPr/>
        </p:nvSpPr>
        <p:spPr>
          <a:xfrm>
            <a:off x="1544194" y="5276088"/>
            <a:ext cx="891540" cy="237744"/>
          </a:xfrm>
          <a:prstGeom prst="rect">
            <a:avLst/>
          </a:prstGeom>
          <a:noFill/>
          <a:ln/>
        </p:spPr>
        <p:txBody>
          <a:bodyPr wrap="square" rtlCol="0" anchor="ctr"/>
          <a:lstStyle/>
          <a:p>
            <a:pPr algn="ctr" defTabSz="914377">
              <a:defRPr/>
            </a:pPr>
            <a:r>
              <a:rPr lang="en-US" sz="1200" b="1">
                <a:solidFill>
                  <a:srgbClr val="333333"/>
                </a:solidFill>
                <a:latin typeface="Calibri" pitchFamily="34" charset="0"/>
                <a:ea typeface="Calibri" pitchFamily="34" charset="-122"/>
                <a:cs typeface="Calibri" pitchFamily="34" charset="-120"/>
              </a:rPr>
              <a:t>90 d</a:t>
            </a:r>
            <a:endParaRPr lang="en-US" sz="1200">
              <a:solidFill>
                <a:prstClr val="black"/>
              </a:solidFill>
              <a:latin typeface="Aptos" panose="02110004020202020204"/>
            </a:endParaRPr>
          </a:p>
        </p:txBody>
      </p:sp>
      <p:sp>
        <p:nvSpPr>
          <p:cNvPr id="28" name="Shape 24">
            <a:extLst>
              <a:ext uri="{C183D7F6-B498-43B3-948B-1728B52AA6E4}">
                <adec:decorative xmlns:adec="http://schemas.microsoft.com/office/drawing/2017/decorative" val="1"/>
              </a:ext>
            </a:extLst>
          </p:cNvPr>
          <p:cNvSpPr/>
          <p:nvPr/>
        </p:nvSpPr>
        <p:spPr>
          <a:xfrm>
            <a:off x="746760" y="5001768"/>
            <a:ext cx="7132320" cy="0"/>
          </a:xfrm>
          <a:prstGeom prst="line">
            <a:avLst/>
          </a:prstGeom>
          <a:noFill/>
          <a:ln w="12700">
            <a:solidFill>
              <a:srgbClr val="122C57"/>
            </a:solidFill>
            <a:prstDash val="solid"/>
          </a:ln>
        </p:spPr>
        <p:txBody>
          <a:bodyPr/>
          <a:lstStyle/>
          <a:p>
            <a:pPr defTabSz="914377">
              <a:defRPr/>
            </a:pPr>
            <a:endParaRPr lang="en-US">
              <a:solidFill>
                <a:prstClr val="black"/>
              </a:solidFill>
              <a:latin typeface="Aptos" panose="02110004020202020204"/>
            </a:endParaRPr>
          </a:p>
        </p:txBody>
      </p:sp>
      <p:sp>
        <p:nvSpPr>
          <p:cNvPr id="29" name="Shape 25">
            <a:extLst>
              <a:ext uri="{C183D7F6-B498-43B3-948B-1728B52AA6E4}">
                <adec:decorative xmlns:adec="http://schemas.microsoft.com/office/drawing/2017/decorative" val="1"/>
              </a:ext>
            </a:extLst>
          </p:cNvPr>
          <p:cNvSpPr/>
          <p:nvPr/>
        </p:nvSpPr>
        <p:spPr>
          <a:xfrm>
            <a:off x="8336280" y="1600200"/>
            <a:ext cx="3410712" cy="4023360"/>
          </a:xfrm>
          <a:prstGeom prst="roundRect">
            <a:avLst>
              <a:gd name="adj" fmla="val 1609"/>
            </a:avLst>
          </a:prstGeom>
          <a:solidFill>
            <a:srgbClr val="FFFFFF"/>
          </a:solidFill>
          <a:ln w="12700">
            <a:solidFill>
              <a:srgbClr val="D9DDE3"/>
            </a:solidFill>
            <a:prstDash val="solid"/>
          </a:ln>
        </p:spPr>
        <p:txBody>
          <a:bodyPr/>
          <a:lstStyle/>
          <a:p>
            <a:pPr defTabSz="914377">
              <a:defRPr/>
            </a:pPr>
            <a:endParaRPr lang="en-US">
              <a:solidFill>
                <a:prstClr val="black"/>
              </a:solidFill>
              <a:latin typeface="Aptos" panose="02110004020202020204"/>
            </a:endParaRPr>
          </a:p>
        </p:txBody>
      </p:sp>
      <p:sp>
        <p:nvSpPr>
          <p:cNvPr id="30" name="Text 26"/>
          <p:cNvSpPr/>
          <p:nvPr/>
        </p:nvSpPr>
        <p:spPr>
          <a:xfrm>
            <a:off x="8500872" y="1709928"/>
            <a:ext cx="3081528" cy="237744"/>
          </a:xfrm>
          <a:prstGeom prst="rect">
            <a:avLst/>
          </a:prstGeom>
          <a:noFill/>
          <a:ln/>
        </p:spPr>
        <p:txBody>
          <a:bodyPr wrap="square" rtlCol="0" anchor="ctr"/>
          <a:lstStyle/>
          <a:p>
            <a:pPr defTabSz="914377">
              <a:defRPr/>
            </a:pPr>
            <a:r>
              <a:rPr lang="en-US" sz="1467" b="1" kern="0" spc="100">
                <a:solidFill>
                  <a:srgbClr val="2056A7"/>
                </a:solidFill>
                <a:latin typeface="Calibri" pitchFamily="34" charset="0"/>
                <a:ea typeface="Calibri" pitchFamily="34" charset="-122"/>
                <a:cs typeface="Calibri" pitchFamily="34" charset="-120"/>
              </a:rPr>
              <a:t>NOTES</a:t>
            </a:r>
            <a:endParaRPr lang="en-US" sz="1200">
              <a:solidFill>
                <a:prstClr val="black"/>
              </a:solidFill>
              <a:latin typeface="Aptos" panose="02110004020202020204"/>
            </a:endParaRPr>
          </a:p>
        </p:txBody>
      </p:sp>
      <p:sp>
        <p:nvSpPr>
          <p:cNvPr id="31" name="Text 27"/>
          <p:cNvSpPr/>
          <p:nvPr/>
        </p:nvSpPr>
        <p:spPr>
          <a:xfrm>
            <a:off x="8539763" y="2022253"/>
            <a:ext cx="3081528" cy="3529584"/>
          </a:xfrm>
          <a:prstGeom prst="rect">
            <a:avLst/>
          </a:prstGeom>
          <a:noFill/>
          <a:ln/>
        </p:spPr>
        <p:txBody>
          <a:bodyPr wrap="square" lIns="91440" tIns="45720" rIns="91440" bIns="45720" rtlCol="0" anchor="t"/>
          <a:lstStyle/>
          <a:p>
            <a:pPr defTabSz="914377">
              <a:lnSpc>
                <a:spcPct val="105000"/>
              </a:lnSpc>
              <a:defRPr/>
            </a:pPr>
            <a:r>
              <a:rPr lang="en-US" sz="1333" b="1">
                <a:solidFill>
                  <a:srgbClr val="122C57"/>
                </a:solidFill>
                <a:latin typeface="Calibri"/>
                <a:ea typeface="Calibri"/>
                <a:cs typeface="Calibri"/>
              </a:rPr>
              <a:t>Key Takeaways</a:t>
            </a:r>
            <a:endParaRPr lang="en-US" sz="1333">
              <a:solidFill>
                <a:prstClr val="black"/>
              </a:solidFill>
              <a:latin typeface="Calibri"/>
              <a:ea typeface="Calibri"/>
              <a:cs typeface="Calibri"/>
            </a:endParaRPr>
          </a:p>
          <a:p>
            <a:pPr marL="152396" indent="-152396" defTabSz="914377">
              <a:lnSpc>
                <a:spcPct val="105000"/>
              </a:lnSpc>
              <a:buSzPct val="100000"/>
              <a:buFontTx/>
              <a:buChar char="•"/>
              <a:defRPr/>
            </a:pPr>
            <a:r>
              <a:rPr lang="en-US" sz="1333">
                <a:solidFill>
                  <a:srgbClr val="333333"/>
                </a:solidFill>
                <a:latin typeface="Calibri" pitchFamily="34" charset="0"/>
                <a:ea typeface="Calibri" pitchFamily="34" charset="-122"/>
                <a:cs typeface="Calibri" pitchFamily="34" charset="-120"/>
              </a:rPr>
              <a:t>86 days posting-to-offer, under target</a:t>
            </a:r>
            <a:endParaRPr lang="en-US" sz="1333">
              <a:solidFill>
                <a:prstClr val="black"/>
              </a:solidFill>
              <a:latin typeface="Aptos" panose="02110004020202020204"/>
            </a:endParaRPr>
          </a:p>
          <a:p>
            <a:pPr marL="152396" indent="-152396" defTabSz="914377">
              <a:lnSpc>
                <a:spcPct val="105000"/>
              </a:lnSpc>
              <a:buSzPct val="100000"/>
              <a:buFontTx/>
              <a:buChar char="•"/>
              <a:defRPr/>
            </a:pPr>
            <a:r>
              <a:rPr lang="en-US" sz="1333">
                <a:solidFill>
                  <a:srgbClr val="333333"/>
                </a:solidFill>
                <a:latin typeface="Calibri" pitchFamily="34" charset="0"/>
                <a:ea typeface="Calibri" pitchFamily="34" charset="-122"/>
                <a:cs typeface="Calibri" pitchFamily="34" charset="-120"/>
              </a:rPr>
              <a:t>Down 20 days YOY</a:t>
            </a:r>
          </a:p>
          <a:p>
            <a:pPr defTabSz="914377">
              <a:lnSpc>
                <a:spcPct val="105000"/>
              </a:lnSpc>
              <a:spcBef>
                <a:spcPts val="600"/>
              </a:spcBef>
              <a:defRPr/>
            </a:pPr>
            <a:r>
              <a:rPr lang="en-US" sz="1333" b="1">
                <a:solidFill>
                  <a:srgbClr val="122C57"/>
                </a:solidFill>
                <a:latin typeface="Calibri"/>
                <a:ea typeface="Calibri"/>
                <a:cs typeface="Calibri"/>
              </a:rPr>
              <a:t>Key Drivers</a:t>
            </a:r>
            <a:endParaRPr lang="en-US" sz="1333">
              <a:solidFill>
                <a:prstClr val="black"/>
              </a:solidFill>
              <a:latin typeface="Aptos" panose="02110004020202020204"/>
            </a:endParaRPr>
          </a:p>
          <a:p>
            <a:pPr marL="152396" indent="-152396" defTabSz="914377">
              <a:lnSpc>
                <a:spcPct val="105000"/>
              </a:lnSpc>
              <a:buSzPct val="100000"/>
              <a:buFontTx/>
              <a:buChar char="•"/>
              <a:defRPr/>
            </a:pPr>
            <a:r>
              <a:rPr lang="en-US" sz="1333">
                <a:solidFill>
                  <a:srgbClr val="333333"/>
                </a:solidFill>
                <a:latin typeface="Calibri" pitchFamily="34" charset="0"/>
                <a:ea typeface="Calibri" pitchFamily="34" charset="-122"/>
                <a:cs typeface="Calibri" pitchFamily="34" charset="-120"/>
              </a:rPr>
              <a:t>Scale promising XYZ pilot countywide (e.g., piloting a new program, tool, policy)</a:t>
            </a:r>
            <a:endParaRPr lang="en-US" sz="1333">
              <a:solidFill>
                <a:prstClr val="black"/>
              </a:solidFill>
              <a:latin typeface="Aptos" panose="02110004020202020204"/>
            </a:endParaRPr>
          </a:p>
          <a:p>
            <a:pPr defTabSz="914377">
              <a:lnSpc>
                <a:spcPct val="105000"/>
              </a:lnSpc>
              <a:spcBef>
                <a:spcPts val="600"/>
              </a:spcBef>
              <a:defRPr/>
            </a:pPr>
            <a:r>
              <a:rPr lang="en-US" sz="1333" b="1">
                <a:solidFill>
                  <a:srgbClr val="122C57"/>
                </a:solidFill>
                <a:latin typeface="Calibri"/>
                <a:ea typeface="Calibri"/>
                <a:cs typeface="Calibri"/>
              </a:rPr>
              <a:t>Decision/Action Needed</a:t>
            </a:r>
            <a:endParaRPr lang="en-US" sz="1333">
              <a:solidFill>
                <a:prstClr val="black"/>
              </a:solidFill>
              <a:latin typeface="Calibri"/>
              <a:ea typeface="Calibri"/>
              <a:cs typeface="Calibri"/>
            </a:endParaRPr>
          </a:p>
          <a:p>
            <a:pPr marL="152396" indent="-152396" defTabSz="914377">
              <a:lnSpc>
                <a:spcPct val="105000"/>
              </a:lnSpc>
              <a:buSzPct val="100000"/>
              <a:buFontTx/>
              <a:buChar char="•"/>
              <a:defRPr/>
            </a:pPr>
            <a:r>
              <a:rPr lang="en-US" sz="1333">
                <a:solidFill>
                  <a:srgbClr val="333333"/>
                </a:solidFill>
                <a:latin typeface="Calibri" pitchFamily="34" charset="0"/>
                <a:ea typeface="Calibri" pitchFamily="34" charset="-122"/>
                <a:cs typeface="Calibri" pitchFamily="34" charset="-120"/>
              </a:rPr>
              <a:t>None at this time</a:t>
            </a:r>
            <a:endParaRPr lang="en-US" sz="1333">
              <a:solidFill>
                <a:prstClr val="black"/>
              </a:solidFill>
              <a:latin typeface="Aptos" panose="02110004020202020204"/>
            </a:endParaRPr>
          </a:p>
        </p:txBody>
      </p:sp>
      <p:sp>
        <p:nvSpPr>
          <p:cNvPr id="32" name="Text 28"/>
          <p:cNvSpPr/>
          <p:nvPr/>
        </p:nvSpPr>
        <p:spPr>
          <a:xfrm>
            <a:off x="472440" y="5943600"/>
            <a:ext cx="11247120" cy="822960"/>
          </a:xfrm>
          <a:prstGeom prst="rect">
            <a:avLst/>
          </a:prstGeom>
          <a:noFill/>
          <a:ln/>
        </p:spPr>
        <p:txBody>
          <a:bodyPr wrap="square" rtlCol="0" anchor="t"/>
          <a:lstStyle/>
          <a:p>
            <a:pPr defTabSz="914377">
              <a:lnSpc>
                <a:spcPct val="105000"/>
              </a:lnSpc>
              <a:defRPr/>
            </a:pPr>
            <a:r>
              <a:rPr lang="en-US" sz="1000" b="1">
                <a:solidFill>
                  <a:srgbClr val="122C57"/>
                </a:solidFill>
                <a:latin typeface="Calibri" pitchFamily="34" charset="0"/>
                <a:ea typeface="Calibri" pitchFamily="34" charset="-122"/>
                <a:cs typeface="Calibri" pitchFamily="34" charset="-120"/>
              </a:rPr>
              <a:t>Time to Fill — Hire:  </a:t>
            </a:r>
            <a:r>
              <a:rPr lang="en-US" sz="1000">
                <a:solidFill>
                  <a:srgbClr val="666666"/>
                </a:solidFill>
                <a:latin typeface="Calibri" pitchFamily="34" charset="0"/>
                <a:ea typeface="Calibri" pitchFamily="34" charset="-122"/>
                <a:cs typeface="Calibri" pitchFamily="34" charset="-120"/>
              </a:rPr>
              <a:t>Average calendar days from a position posting to an accepted offer. Source: Mock </a:t>
            </a:r>
            <a:r>
              <a:rPr lang="en-US" sz="1000" err="1">
                <a:solidFill>
                  <a:srgbClr val="666666"/>
                </a:solidFill>
                <a:latin typeface="Calibri" pitchFamily="34" charset="0"/>
                <a:ea typeface="Calibri" pitchFamily="34" charset="-122"/>
                <a:cs typeface="Calibri" pitchFamily="34" charset="-120"/>
              </a:rPr>
              <a:t>Neogov</a:t>
            </a:r>
            <a:r>
              <a:rPr lang="en-US" sz="1000">
                <a:solidFill>
                  <a:srgbClr val="666666"/>
                </a:solidFill>
                <a:latin typeface="Calibri" pitchFamily="34" charset="0"/>
                <a:ea typeface="Calibri" pitchFamily="34" charset="-122"/>
                <a:cs typeface="Calibri" pitchFamily="34" charset="-120"/>
              </a:rPr>
              <a:t> Data</a:t>
            </a:r>
            <a:endParaRPr lang="en-US" sz="1000">
              <a:solidFill>
                <a:prstClr val="black"/>
              </a:solidFill>
              <a:latin typeface="Aptos" panose="02110004020202020204"/>
            </a:endParaRPr>
          </a:p>
        </p:txBody>
      </p:sp>
      <p:sp>
        <p:nvSpPr>
          <p:cNvPr id="33" name="Text 29"/>
          <p:cNvSpPr/>
          <p:nvPr/>
        </p:nvSpPr>
        <p:spPr>
          <a:xfrm>
            <a:off x="11094415" y="6537960"/>
            <a:ext cx="822960" cy="228600"/>
          </a:xfrm>
          <a:prstGeom prst="rect">
            <a:avLst/>
          </a:prstGeom>
          <a:noFill/>
          <a:ln/>
        </p:spPr>
        <p:txBody>
          <a:bodyPr wrap="square" rtlCol="0" anchor="ctr"/>
          <a:lstStyle/>
          <a:p>
            <a:pPr algn="r" defTabSz="914377">
              <a:defRPr/>
            </a:pPr>
            <a:fld id="{7024D89D-2A09-4DCB-BE0E-C41B0B14EEA5}" type="slidenum">
              <a:rPr lang="en-US" sz="1000" b="1">
                <a:solidFill>
                  <a:prstClr val="black">
                    <a:lumMod val="50000"/>
                    <a:lumOff val="50000"/>
                  </a:prstClr>
                </a:solidFill>
                <a:latin typeface="Calibri" pitchFamily="34" charset="0"/>
                <a:ea typeface="Calibri" pitchFamily="34" charset="-122"/>
                <a:cs typeface="Calibri" pitchFamily="34" charset="-120"/>
              </a:rPr>
              <a:pPr algn="r" defTabSz="914377">
                <a:defRPr/>
              </a:pPr>
              <a:t>2</a:t>
            </a:fld>
            <a:endParaRPr lang="en-US" sz="1000" b="1">
              <a:solidFill>
                <a:prstClr val="black">
                  <a:lumMod val="50000"/>
                  <a:lumOff val="50000"/>
                </a:prstClr>
              </a:solidFill>
              <a:latin typeface="Aptos" panose="02110004020202020204"/>
            </a:endParaRPr>
          </a:p>
        </p:txBody>
      </p:sp>
      <p:sp>
        <p:nvSpPr>
          <p:cNvPr id="37" name="Shape 5">
            <a:extLst>
              <a:ext uri="{FF2B5EF4-FFF2-40B4-BE49-F238E27FC236}">
                <a16:creationId xmlns:a16="http://schemas.microsoft.com/office/drawing/2014/main" id="{3D0A7A12-8C55-6395-20FA-0B5B2F96DF33}"/>
              </a:ext>
              <a:ext uri="{C183D7F6-B498-43B3-948B-1728B52AA6E4}">
                <adec:decorative xmlns:adec="http://schemas.microsoft.com/office/drawing/2017/decorative" val="1"/>
              </a:ext>
            </a:extLst>
          </p:cNvPr>
          <p:cNvSpPr/>
          <p:nvPr/>
        </p:nvSpPr>
        <p:spPr>
          <a:xfrm>
            <a:off x="2717991" y="5065013"/>
            <a:ext cx="1430275" cy="440435"/>
          </a:xfrm>
          <a:prstGeom prst="roundRect">
            <a:avLst>
              <a:gd name="adj" fmla="val 1364"/>
            </a:avLst>
          </a:prstGeom>
          <a:noFill/>
          <a:ln w="12700">
            <a:solidFill>
              <a:srgbClr val="D9DDE3"/>
            </a:solidFill>
            <a:prstDash val="solid"/>
          </a:ln>
        </p:spPr>
        <p:txBody>
          <a:bodyPr/>
          <a:lstStyle/>
          <a:p>
            <a:pPr defTabSz="914377">
              <a:defRPr/>
            </a:pPr>
            <a:endParaRPr lang="en-US">
              <a:solidFill>
                <a:prstClr val="black"/>
              </a:solidFill>
              <a:latin typeface="Aptos" panose="02110004020202020204"/>
            </a:endParaRPr>
          </a:p>
        </p:txBody>
      </p:sp>
      <p:sp>
        <p:nvSpPr>
          <p:cNvPr id="38" name="Shape 5">
            <a:extLst>
              <a:ext uri="{FF2B5EF4-FFF2-40B4-BE49-F238E27FC236}">
                <a16:creationId xmlns:a16="http://schemas.microsoft.com/office/drawing/2014/main" id="{9A833F0A-6429-7536-407E-09EC362E8DA9}"/>
              </a:ext>
              <a:ext uri="{C183D7F6-B498-43B3-948B-1728B52AA6E4}">
                <adec:decorative xmlns:adec="http://schemas.microsoft.com/office/drawing/2017/decorative" val="1"/>
              </a:ext>
            </a:extLst>
          </p:cNvPr>
          <p:cNvSpPr/>
          <p:nvPr/>
        </p:nvSpPr>
        <p:spPr>
          <a:xfrm>
            <a:off x="4529773" y="5065013"/>
            <a:ext cx="1430275" cy="440435"/>
          </a:xfrm>
          <a:prstGeom prst="roundRect">
            <a:avLst>
              <a:gd name="adj" fmla="val 1364"/>
            </a:avLst>
          </a:prstGeom>
          <a:noFill/>
          <a:ln w="12700">
            <a:solidFill>
              <a:srgbClr val="D9DDE3"/>
            </a:solidFill>
            <a:prstDash val="solid"/>
          </a:ln>
        </p:spPr>
        <p:txBody>
          <a:bodyPr/>
          <a:lstStyle/>
          <a:p>
            <a:pPr defTabSz="914377">
              <a:defRPr/>
            </a:pPr>
            <a:endParaRPr lang="en-US">
              <a:solidFill>
                <a:prstClr val="black"/>
              </a:solidFill>
              <a:latin typeface="Aptos" panose="02110004020202020204"/>
            </a:endParaRPr>
          </a:p>
        </p:txBody>
      </p:sp>
      <p:sp>
        <p:nvSpPr>
          <p:cNvPr id="39" name="Shape 5">
            <a:extLst>
              <a:ext uri="{FF2B5EF4-FFF2-40B4-BE49-F238E27FC236}">
                <a16:creationId xmlns:a16="http://schemas.microsoft.com/office/drawing/2014/main" id="{A3D8FA0B-0A94-BBB3-1041-CAE33AC17CCA}"/>
              </a:ext>
              <a:ext uri="{C183D7F6-B498-43B3-948B-1728B52AA6E4}">
                <adec:decorative xmlns:adec="http://schemas.microsoft.com/office/drawing/2017/decorative" val="1"/>
              </a:ext>
            </a:extLst>
          </p:cNvPr>
          <p:cNvSpPr/>
          <p:nvPr/>
        </p:nvSpPr>
        <p:spPr>
          <a:xfrm>
            <a:off x="6341553" y="5065013"/>
            <a:ext cx="1430275" cy="440435"/>
          </a:xfrm>
          <a:prstGeom prst="roundRect">
            <a:avLst>
              <a:gd name="adj" fmla="val 1364"/>
            </a:avLst>
          </a:prstGeom>
          <a:noFill/>
          <a:ln w="12700">
            <a:solidFill>
              <a:srgbClr val="D9DDE3"/>
            </a:solidFill>
            <a:prstDash val="solid"/>
          </a:ln>
        </p:spPr>
        <p:txBody>
          <a:bodyPr/>
          <a:lstStyle/>
          <a:p>
            <a:pPr defTabSz="914377">
              <a:defRPr/>
            </a:pPr>
            <a:endParaRPr lang="en-US">
              <a:solidFill>
                <a:prstClr val="black"/>
              </a:solidFill>
              <a:latin typeface="Aptos" panose="02110004020202020204"/>
            </a:endParaRPr>
          </a:p>
        </p:txBody>
      </p:sp>
      <p:sp>
        <p:nvSpPr>
          <p:cNvPr id="40" name="Shape 5">
            <a:extLst>
              <a:ext uri="{FF2B5EF4-FFF2-40B4-BE49-F238E27FC236}">
                <a16:creationId xmlns:a16="http://schemas.microsoft.com/office/drawing/2014/main" id="{09098527-9765-4A3E-FF47-741678D9FB9D}"/>
              </a:ext>
              <a:ext uri="{C183D7F6-B498-43B3-948B-1728B52AA6E4}">
                <adec:decorative xmlns:adec="http://schemas.microsoft.com/office/drawing/2017/decorative" val="1"/>
              </a:ext>
            </a:extLst>
          </p:cNvPr>
          <p:cNvSpPr/>
          <p:nvPr/>
        </p:nvSpPr>
        <p:spPr>
          <a:xfrm>
            <a:off x="906209" y="5065013"/>
            <a:ext cx="1430275" cy="440435"/>
          </a:xfrm>
          <a:prstGeom prst="roundRect">
            <a:avLst>
              <a:gd name="adj" fmla="val 1364"/>
            </a:avLst>
          </a:prstGeom>
          <a:noFill/>
          <a:ln w="12700">
            <a:solidFill>
              <a:srgbClr val="D9DDE3"/>
            </a:solidFill>
            <a:prstDash val="solid"/>
          </a:ln>
        </p:spPr>
        <p:txBody>
          <a:bodyPr/>
          <a:lstStyle/>
          <a:p>
            <a:pPr defTabSz="914377">
              <a:defRPr/>
            </a:pPr>
            <a:endParaRPr lang="en-US">
              <a:solidFill>
                <a:prstClr val="black"/>
              </a:solidFill>
              <a:latin typeface="Aptos" panose="02110004020202020204"/>
            </a:endParaRPr>
          </a:p>
        </p:txBody>
      </p:sp>
      <p:sp>
        <p:nvSpPr>
          <p:cNvPr id="44" name="Text 26">
            <a:extLst>
              <a:ext uri="{FF2B5EF4-FFF2-40B4-BE49-F238E27FC236}">
                <a16:creationId xmlns:a16="http://schemas.microsoft.com/office/drawing/2014/main" id="{642FAE84-CD2F-D07E-CBB7-0952FB2A70AB}"/>
              </a:ext>
            </a:extLst>
          </p:cNvPr>
          <p:cNvSpPr/>
          <p:nvPr/>
        </p:nvSpPr>
        <p:spPr>
          <a:xfrm>
            <a:off x="2964995" y="874205"/>
            <a:ext cx="1052215" cy="258707"/>
          </a:xfrm>
          <a:prstGeom prst="roundRect">
            <a:avLst>
              <a:gd name="adj" fmla="val 46429"/>
            </a:avLst>
          </a:prstGeom>
          <a:solidFill>
            <a:srgbClr val="DDEFE3"/>
          </a:solidFill>
          <a:ln/>
        </p:spPr>
        <p:txBody>
          <a:bodyPr wrap="square" rtlCol="0" anchor="ctr"/>
          <a:lstStyle/>
          <a:p>
            <a:pPr algn="ctr" defTabSz="1219170"/>
            <a:r>
              <a:rPr lang="en-US" sz="1067" b="1" kern="0" spc="133">
                <a:solidFill>
                  <a:srgbClr val="1E7A46"/>
                </a:solidFill>
                <a:latin typeface="Calibri Light" panose="020F0302020204030204"/>
                <a:ea typeface="Calibri" pitchFamily="34" charset="-122"/>
                <a:cs typeface="Calibri" pitchFamily="34" charset="-120"/>
              </a:rPr>
              <a:t>On Track</a:t>
            </a:r>
            <a:endParaRPr lang="en-US" sz="1067">
              <a:solidFill>
                <a:prstClr val="black"/>
              </a:solidFill>
              <a:latin typeface="Calibri Light" panose="020F0302020204030204"/>
            </a:endParaRPr>
          </a:p>
        </p:txBody>
      </p:sp>
      <p:sp>
        <p:nvSpPr>
          <p:cNvPr id="45" name="Text 27">
            <a:extLst>
              <a:ext uri="{FF2B5EF4-FFF2-40B4-BE49-F238E27FC236}">
                <a16:creationId xmlns:a16="http://schemas.microsoft.com/office/drawing/2014/main" id="{47CDC779-62A9-5AEA-E8F7-E086011EEF8B}"/>
              </a:ext>
            </a:extLst>
          </p:cNvPr>
          <p:cNvSpPr/>
          <p:nvPr/>
        </p:nvSpPr>
        <p:spPr>
          <a:xfrm>
            <a:off x="4148266" y="879721"/>
            <a:ext cx="1052215" cy="258707"/>
          </a:xfrm>
          <a:prstGeom prst="roundRect">
            <a:avLst>
              <a:gd name="adj" fmla="val 46429"/>
            </a:avLst>
          </a:prstGeom>
          <a:solidFill>
            <a:srgbClr val="FCEFC7"/>
          </a:solidFill>
          <a:ln/>
        </p:spPr>
        <p:txBody>
          <a:bodyPr wrap="square" rtlCol="0" anchor="ctr"/>
          <a:lstStyle/>
          <a:p>
            <a:pPr algn="ctr" defTabSz="1219170"/>
            <a:r>
              <a:rPr lang="en-US" sz="1067" b="1" kern="0" spc="133">
                <a:solidFill>
                  <a:srgbClr val="B8860B"/>
                </a:solidFill>
                <a:latin typeface="Calibri Light" panose="020F0302020204030204"/>
                <a:ea typeface="Calibri" pitchFamily="34" charset="-122"/>
                <a:cs typeface="Calibri" pitchFamily="34" charset="-120"/>
              </a:rPr>
              <a:t>At Risk</a:t>
            </a:r>
            <a:endParaRPr lang="en-US" sz="1067">
              <a:solidFill>
                <a:prstClr val="black"/>
              </a:solidFill>
              <a:latin typeface="Calibri Light" panose="020F0302020204030204"/>
            </a:endParaRPr>
          </a:p>
        </p:txBody>
      </p:sp>
      <p:sp>
        <p:nvSpPr>
          <p:cNvPr id="46" name="Text 28">
            <a:extLst>
              <a:ext uri="{FF2B5EF4-FFF2-40B4-BE49-F238E27FC236}">
                <a16:creationId xmlns:a16="http://schemas.microsoft.com/office/drawing/2014/main" id="{24BF3190-C812-AAD4-5DDB-7C80CE84E94C}"/>
              </a:ext>
            </a:extLst>
          </p:cNvPr>
          <p:cNvSpPr/>
          <p:nvPr/>
        </p:nvSpPr>
        <p:spPr>
          <a:xfrm>
            <a:off x="5279127" y="879721"/>
            <a:ext cx="1052215" cy="258707"/>
          </a:xfrm>
          <a:prstGeom prst="roundRect">
            <a:avLst>
              <a:gd name="adj" fmla="val 46429"/>
            </a:avLst>
          </a:prstGeom>
          <a:solidFill>
            <a:srgbClr val="F8DAD5"/>
          </a:solidFill>
          <a:ln/>
        </p:spPr>
        <p:txBody>
          <a:bodyPr wrap="square" rtlCol="0" anchor="ctr"/>
          <a:lstStyle/>
          <a:p>
            <a:pPr algn="ctr" defTabSz="1219170"/>
            <a:r>
              <a:rPr lang="en-US" sz="1067" b="1" kern="0" spc="133">
                <a:solidFill>
                  <a:srgbClr val="C0392B"/>
                </a:solidFill>
                <a:latin typeface="Calibri Light" panose="020F0302020204030204"/>
                <a:ea typeface="Calibri" pitchFamily="34" charset="-122"/>
                <a:cs typeface="Calibri" pitchFamily="34" charset="-120"/>
              </a:rPr>
              <a:t>Off Track</a:t>
            </a:r>
            <a:endParaRPr lang="en-US" sz="1067">
              <a:solidFill>
                <a:prstClr val="black"/>
              </a:solidFill>
              <a:latin typeface="Calibri Light" panose="020F0302020204030204"/>
            </a:endParaRPr>
          </a:p>
        </p:txBody>
      </p:sp>
      <p:sp>
        <p:nvSpPr>
          <p:cNvPr id="7" name="Shape 0">
            <a:extLst>
              <a:ext uri="{FF2B5EF4-FFF2-40B4-BE49-F238E27FC236}">
                <a16:creationId xmlns:a16="http://schemas.microsoft.com/office/drawing/2014/main" id="{79A62144-FC5F-605F-2D2D-9EFCD62FC838}"/>
              </a:ext>
            </a:extLst>
          </p:cNvPr>
          <p:cNvSpPr/>
          <p:nvPr/>
        </p:nvSpPr>
        <p:spPr>
          <a:xfrm>
            <a:off x="0" y="0"/>
            <a:ext cx="12192000" cy="512064"/>
          </a:xfrm>
          <a:prstGeom prst="rect">
            <a:avLst/>
          </a:prstGeom>
          <a:solidFill>
            <a:srgbClr val="122C57"/>
          </a:solidFill>
          <a:ln w="12700">
            <a:solidFill>
              <a:srgbClr val="122C57"/>
            </a:solidFill>
            <a:prstDash val="solid"/>
          </a:ln>
        </p:spPr>
        <p:txBody>
          <a:bodyPr/>
          <a:lstStyle/>
          <a:p>
            <a:pPr defTabSz="1219170">
              <a:defRPr/>
            </a:pPr>
            <a:endParaRPr lang="en-US" sz="2400">
              <a:solidFill>
                <a:prstClr val="black"/>
              </a:solidFill>
              <a:latin typeface="Calibri" panose="020F0502020204030204"/>
            </a:endParaRPr>
          </a:p>
        </p:txBody>
      </p:sp>
      <p:sp>
        <p:nvSpPr>
          <p:cNvPr id="36" name="Text 1">
            <a:extLst>
              <a:ext uri="{FF2B5EF4-FFF2-40B4-BE49-F238E27FC236}">
                <a16:creationId xmlns:a16="http://schemas.microsoft.com/office/drawing/2014/main" id="{9B312E46-5165-8C6F-B512-3B3484F5B166}"/>
              </a:ext>
            </a:extLst>
          </p:cNvPr>
          <p:cNvSpPr/>
          <p:nvPr/>
        </p:nvSpPr>
        <p:spPr>
          <a:xfrm>
            <a:off x="487680" y="48768"/>
            <a:ext cx="11216640" cy="414528"/>
          </a:xfrm>
          <a:prstGeom prst="rect">
            <a:avLst/>
          </a:prstGeom>
          <a:noFill/>
          <a:ln/>
        </p:spPr>
        <p:txBody>
          <a:bodyPr wrap="square" rtlCol="0" anchor="ctr"/>
          <a:lstStyle/>
          <a:p>
            <a:pPr defTabSz="1219170">
              <a:defRPr/>
            </a:pPr>
            <a:r>
              <a:rPr lang="en-US" sz="1200" b="1" kern="0" spc="267">
                <a:solidFill>
                  <a:srgbClr val="B3E1F5"/>
                </a:solidFill>
                <a:latin typeface="Calibri" pitchFamily="34" charset="0"/>
                <a:ea typeface="Calibri" pitchFamily="34" charset="-122"/>
                <a:cs typeface="Calibri" pitchFamily="34" charset="-120"/>
              </a:rPr>
              <a:t>3- YOUR MATERIALS</a:t>
            </a:r>
            <a:endParaRPr lang="en-US" sz="1200">
              <a:solidFill>
                <a:prstClr val="black"/>
              </a:solidFill>
              <a:latin typeface="Calibri" panose="020F0502020204030204"/>
            </a:endParaRPr>
          </a:p>
        </p:txBody>
      </p:sp>
      <p:pic>
        <p:nvPicPr>
          <p:cNvPr id="41" name="Graphic 40">
            <a:extLst>
              <a:ext uri="{FF2B5EF4-FFF2-40B4-BE49-F238E27FC236}">
                <a16:creationId xmlns:a16="http://schemas.microsoft.com/office/drawing/2014/main" id="{F3FCD285-5DBE-95C3-5B54-C7F5A5B656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43924" y="24385"/>
            <a:ext cx="2565400" cy="444500"/>
          </a:xfrm>
          <a:prstGeom prst="rect">
            <a:avLst/>
          </a:prstGeom>
        </p:spPr>
      </p:pic>
      <p:sp>
        <p:nvSpPr>
          <p:cNvPr id="43" name="TextBox 42">
            <a:extLst>
              <a:ext uri="{FF2B5EF4-FFF2-40B4-BE49-F238E27FC236}">
                <a16:creationId xmlns:a16="http://schemas.microsoft.com/office/drawing/2014/main" id="{0E90CC39-8CE5-F381-B99A-00177EEC77AE}"/>
              </a:ext>
            </a:extLst>
          </p:cNvPr>
          <p:cNvSpPr txBox="1"/>
          <p:nvPr/>
        </p:nvSpPr>
        <p:spPr>
          <a:xfrm>
            <a:off x="8336280" y="448057"/>
            <a:ext cx="3793805" cy="461665"/>
          </a:xfrm>
          <a:prstGeom prst="rect">
            <a:avLst/>
          </a:prstGeom>
          <a:noFill/>
        </p:spPr>
        <p:txBody>
          <a:bodyPr wrap="square">
            <a:spAutoFit/>
          </a:bodyPr>
          <a:lstStyle/>
          <a:p>
            <a:pPr defTabSz="1219170"/>
            <a:r>
              <a:rPr lang="en-US" sz="2400" b="1">
                <a:solidFill>
                  <a:srgbClr val="EC5800"/>
                </a:solidFill>
                <a:latin typeface="Calibri" pitchFamily="34" charset="0"/>
                <a:ea typeface="Calibri" pitchFamily="34" charset="-122"/>
                <a:cs typeface="Calibri" pitchFamily="34" charset="-120"/>
              </a:rPr>
              <a:t>Standard Report Template</a:t>
            </a:r>
            <a:endParaRPr lang="en-US" sz="2400">
              <a:solidFill>
                <a:srgbClr val="EC5800"/>
              </a:solidFill>
              <a:latin typeface="Calibri" panose="020F0502020204030204"/>
            </a:endParaRP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571</Words>
  <Application>Microsoft Office PowerPoint</Application>
  <PresentationFormat>Widescreen</PresentationFormat>
  <Paragraphs>69</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Arial</vt:lpstr>
      <vt:lpstr>Calibri</vt:lpstr>
      <vt:lpstr>Calibri Light</vt:lpstr>
      <vt:lpstr>1_Office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Tivoli, Leah (EXEC)</dc:creator>
  <cp:lastModifiedBy>Tivoli, Leah (EXEC)</cp:lastModifiedBy>
  <cp:revision>1</cp:revision>
  <dcterms:created xsi:type="dcterms:W3CDTF">2026-07-10T21:39:12Z</dcterms:created>
  <dcterms:modified xsi:type="dcterms:W3CDTF">2026-07-13T17:23:14Z</dcterms:modified>
</cp:coreProperties>
</file>